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7" r:id="rId2"/>
    <p:sldId id="267" r:id="rId3"/>
    <p:sldId id="264" r:id="rId4"/>
    <p:sldId id="266" r:id="rId5"/>
    <p:sldId id="265" r:id="rId6"/>
    <p:sldId id="260" r:id="rId7"/>
    <p:sldId id="261" r:id="rId8"/>
    <p:sldId id="263" r:id="rId9"/>
    <p:sldId id="26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2C6811-53C7-444D-BE95-24B7A4CB0699}" type="datetimeFigureOut">
              <a:rPr lang="en-US" smtClean="0"/>
              <a:t>8/8/2025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C9EE5B-4849-433D-BF73-0406AC82683E}" type="slidenum">
              <a:rPr lang="en-US" smtClean="0"/>
              <a:t>‹#›</a:t>
            </a:fld>
            <a:endParaRPr lang="en-US"/>
          </a:p>
        </p:txBody>
      </p:sp>
    </p:spTree>
    <p:extLst>
      <p:ext uri="{BB962C8B-B14F-4D97-AF65-F5344CB8AC3E}">
        <p14:creationId xmlns:p14="http://schemas.microsoft.com/office/powerpoint/2010/main" val="3734772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C9EE5B-4849-433D-BF73-0406AC82683E}" type="slidenum">
              <a:rPr lang="en-US" smtClean="0"/>
              <a:t>9</a:t>
            </a:fld>
            <a:endParaRPr lang="en-US"/>
          </a:p>
        </p:txBody>
      </p:sp>
    </p:spTree>
    <p:extLst>
      <p:ext uri="{BB962C8B-B14F-4D97-AF65-F5344CB8AC3E}">
        <p14:creationId xmlns:p14="http://schemas.microsoft.com/office/powerpoint/2010/main" val="20367527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840EB-AA22-0945-56FA-699B8EE4B8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8BC7F5-71F2-BC40-BB81-1A5C9B476B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A4AF508-62A4-1CBC-6BA5-20941AE25901}"/>
              </a:ext>
            </a:extLst>
          </p:cNvPr>
          <p:cNvSpPr>
            <a:spLocks noGrp="1"/>
          </p:cNvSpPr>
          <p:nvPr>
            <p:ph type="dt" sz="half" idx="10"/>
          </p:nvPr>
        </p:nvSpPr>
        <p:spPr/>
        <p:txBody>
          <a:bodyPr/>
          <a:lstStyle/>
          <a:p>
            <a:fld id="{2E66FE17-CF80-421A-A212-89CF03D58BCA}" type="datetimeFigureOut">
              <a:rPr lang="en-US" smtClean="0"/>
              <a:t>8/8/2025</a:t>
            </a:fld>
            <a:endParaRPr lang="en-US"/>
          </a:p>
        </p:txBody>
      </p:sp>
      <p:sp>
        <p:nvSpPr>
          <p:cNvPr id="5" name="Footer Placeholder 4">
            <a:extLst>
              <a:ext uri="{FF2B5EF4-FFF2-40B4-BE49-F238E27FC236}">
                <a16:creationId xmlns:a16="http://schemas.microsoft.com/office/drawing/2014/main" id="{7D2636CA-48F1-F755-FD7F-C03F8033E9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12F4D6-9464-1080-77B0-C8A8F2873BAC}"/>
              </a:ext>
            </a:extLst>
          </p:cNvPr>
          <p:cNvSpPr>
            <a:spLocks noGrp="1"/>
          </p:cNvSpPr>
          <p:nvPr>
            <p:ph type="sldNum" sz="quarter" idx="12"/>
          </p:nvPr>
        </p:nvSpPr>
        <p:spPr/>
        <p:txBody>
          <a:bodyPr/>
          <a:lstStyle/>
          <a:p>
            <a:fld id="{772B7C9A-1D7B-46D3-AB6C-73A3C0599A35}" type="slidenum">
              <a:rPr lang="en-US" smtClean="0"/>
              <a:t>‹#›</a:t>
            </a:fld>
            <a:endParaRPr lang="en-US"/>
          </a:p>
        </p:txBody>
      </p:sp>
    </p:spTree>
    <p:extLst>
      <p:ext uri="{BB962C8B-B14F-4D97-AF65-F5344CB8AC3E}">
        <p14:creationId xmlns:p14="http://schemas.microsoft.com/office/powerpoint/2010/main" val="1453429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AC0E7-4655-4667-1A28-ABD300635A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08C8C9-20BD-5708-213A-04EE38F261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A24191-7257-6E1F-D553-226E7FA8AA01}"/>
              </a:ext>
            </a:extLst>
          </p:cNvPr>
          <p:cNvSpPr>
            <a:spLocks noGrp="1"/>
          </p:cNvSpPr>
          <p:nvPr>
            <p:ph type="dt" sz="half" idx="10"/>
          </p:nvPr>
        </p:nvSpPr>
        <p:spPr/>
        <p:txBody>
          <a:bodyPr/>
          <a:lstStyle/>
          <a:p>
            <a:fld id="{2E66FE17-CF80-421A-A212-89CF03D58BCA}" type="datetimeFigureOut">
              <a:rPr lang="en-US" smtClean="0"/>
              <a:t>8/8/2025</a:t>
            </a:fld>
            <a:endParaRPr lang="en-US"/>
          </a:p>
        </p:txBody>
      </p:sp>
      <p:sp>
        <p:nvSpPr>
          <p:cNvPr id="5" name="Footer Placeholder 4">
            <a:extLst>
              <a:ext uri="{FF2B5EF4-FFF2-40B4-BE49-F238E27FC236}">
                <a16:creationId xmlns:a16="http://schemas.microsoft.com/office/drawing/2014/main" id="{73717707-F785-EBA3-6645-E73991F7C7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BABE07-AA3E-2C7A-AC1C-60304BE23CD5}"/>
              </a:ext>
            </a:extLst>
          </p:cNvPr>
          <p:cNvSpPr>
            <a:spLocks noGrp="1"/>
          </p:cNvSpPr>
          <p:nvPr>
            <p:ph type="sldNum" sz="quarter" idx="12"/>
          </p:nvPr>
        </p:nvSpPr>
        <p:spPr/>
        <p:txBody>
          <a:bodyPr/>
          <a:lstStyle/>
          <a:p>
            <a:fld id="{772B7C9A-1D7B-46D3-AB6C-73A3C0599A35}" type="slidenum">
              <a:rPr lang="en-US" smtClean="0"/>
              <a:t>‹#›</a:t>
            </a:fld>
            <a:endParaRPr lang="en-US"/>
          </a:p>
        </p:txBody>
      </p:sp>
    </p:spTree>
    <p:extLst>
      <p:ext uri="{BB962C8B-B14F-4D97-AF65-F5344CB8AC3E}">
        <p14:creationId xmlns:p14="http://schemas.microsoft.com/office/powerpoint/2010/main" val="4095250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47DD2-B9D7-D0D5-60F3-0F3252CC96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C376A9D-2A66-E6A8-C8E0-2E093C85C80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E32445-971B-602F-3756-3C2A6325F493}"/>
              </a:ext>
            </a:extLst>
          </p:cNvPr>
          <p:cNvSpPr>
            <a:spLocks noGrp="1"/>
          </p:cNvSpPr>
          <p:nvPr>
            <p:ph type="dt" sz="half" idx="10"/>
          </p:nvPr>
        </p:nvSpPr>
        <p:spPr/>
        <p:txBody>
          <a:bodyPr/>
          <a:lstStyle/>
          <a:p>
            <a:fld id="{2E66FE17-CF80-421A-A212-89CF03D58BCA}" type="datetimeFigureOut">
              <a:rPr lang="en-US" smtClean="0"/>
              <a:t>8/8/2025</a:t>
            </a:fld>
            <a:endParaRPr lang="en-US"/>
          </a:p>
        </p:txBody>
      </p:sp>
      <p:sp>
        <p:nvSpPr>
          <p:cNvPr id="5" name="Footer Placeholder 4">
            <a:extLst>
              <a:ext uri="{FF2B5EF4-FFF2-40B4-BE49-F238E27FC236}">
                <a16:creationId xmlns:a16="http://schemas.microsoft.com/office/drawing/2014/main" id="{3E27C138-FD5B-CD95-2ECE-3D2A4B786E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000B5F-58F0-7527-7791-7072B0799844}"/>
              </a:ext>
            </a:extLst>
          </p:cNvPr>
          <p:cNvSpPr>
            <a:spLocks noGrp="1"/>
          </p:cNvSpPr>
          <p:nvPr>
            <p:ph type="sldNum" sz="quarter" idx="12"/>
          </p:nvPr>
        </p:nvSpPr>
        <p:spPr/>
        <p:txBody>
          <a:bodyPr/>
          <a:lstStyle/>
          <a:p>
            <a:fld id="{772B7C9A-1D7B-46D3-AB6C-73A3C0599A35}" type="slidenum">
              <a:rPr lang="en-US" smtClean="0"/>
              <a:t>‹#›</a:t>
            </a:fld>
            <a:endParaRPr lang="en-US"/>
          </a:p>
        </p:txBody>
      </p:sp>
    </p:spTree>
    <p:extLst>
      <p:ext uri="{BB962C8B-B14F-4D97-AF65-F5344CB8AC3E}">
        <p14:creationId xmlns:p14="http://schemas.microsoft.com/office/powerpoint/2010/main" val="2211289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12918-B85E-8C3C-B21E-103C6D4E06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3562C6-7F30-9DE6-7A7A-442FC5561F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BB172D-05AC-64B2-4A42-C0145414EE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7DA96F-6450-E0A3-3A31-9AFD6C4C1787}"/>
              </a:ext>
            </a:extLst>
          </p:cNvPr>
          <p:cNvSpPr>
            <a:spLocks noGrp="1"/>
          </p:cNvSpPr>
          <p:nvPr>
            <p:ph type="dt" sz="half" idx="10"/>
          </p:nvPr>
        </p:nvSpPr>
        <p:spPr/>
        <p:txBody>
          <a:bodyPr/>
          <a:lstStyle/>
          <a:p>
            <a:fld id="{2E66FE17-CF80-421A-A212-89CF03D58BCA}" type="datetimeFigureOut">
              <a:rPr lang="en-US" smtClean="0"/>
              <a:t>8/8/2025</a:t>
            </a:fld>
            <a:endParaRPr lang="en-US"/>
          </a:p>
        </p:txBody>
      </p:sp>
      <p:sp>
        <p:nvSpPr>
          <p:cNvPr id="6" name="Footer Placeholder 5">
            <a:extLst>
              <a:ext uri="{FF2B5EF4-FFF2-40B4-BE49-F238E27FC236}">
                <a16:creationId xmlns:a16="http://schemas.microsoft.com/office/drawing/2014/main" id="{9E0056CD-BBD5-FBBA-68FE-9BFC4B3D00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10267E-8E93-7DB0-B4EB-8B109FD48491}"/>
              </a:ext>
            </a:extLst>
          </p:cNvPr>
          <p:cNvSpPr>
            <a:spLocks noGrp="1"/>
          </p:cNvSpPr>
          <p:nvPr>
            <p:ph type="sldNum" sz="quarter" idx="12"/>
          </p:nvPr>
        </p:nvSpPr>
        <p:spPr/>
        <p:txBody>
          <a:bodyPr/>
          <a:lstStyle/>
          <a:p>
            <a:fld id="{772B7C9A-1D7B-46D3-AB6C-73A3C0599A35}" type="slidenum">
              <a:rPr lang="en-US" smtClean="0"/>
              <a:t>‹#›</a:t>
            </a:fld>
            <a:endParaRPr lang="en-US"/>
          </a:p>
        </p:txBody>
      </p:sp>
    </p:spTree>
    <p:extLst>
      <p:ext uri="{BB962C8B-B14F-4D97-AF65-F5344CB8AC3E}">
        <p14:creationId xmlns:p14="http://schemas.microsoft.com/office/powerpoint/2010/main" val="3372737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C2AB6-81AB-3781-9F99-96FA3A8606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4C7A114-3101-55EB-FE10-A7993A33DF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4C7CF6-4C13-04BF-31EC-976036CB62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8CD16C-AE08-60F9-B7DE-9CD2294F4E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71BD6D-29FC-F7F7-8906-4A280D7781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564D99-EA69-498A-4AB0-1167F242E3C7}"/>
              </a:ext>
            </a:extLst>
          </p:cNvPr>
          <p:cNvSpPr>
            <a:spLocks noGrp="1"/>
          </p:cNvSpPr>
          <p:nvPr>
            <p:ph type="dt" sz="half" idx="10"/>
          </p:nvPr>
        </p:nvSpPr>
        <p:spPr/>
        <p:txBody>
          <a:bodyPr/>
          <a:lstStyle/>
          <a:p>
            <a:fld id="{2E66FE17-CF80-421A-A212-89CF03D58BCA}" type="datetimeFigureOut">
              <a:rPr lang="en-US" smtClean="0"/>
              <a:t>8/8/2025</a:t>
            </a:fld>
            <a:endParaRPr lang="en-US"/>
          </a:p>
        </p:txBody>
      </p:sp>
      <p:sp>
        <p:nvSpPr>
          <p:cNvPr id="8" name="Footer Placeholder 7">
            <a:extLst>
              <a:ext uri="{FF2B5EF4-FFF2-40B4-BE49-F238E27FC236}">
                <a16:creationId xmlns:a16="http://schemas.microsoft.com/office/drawing/2014/main" id="{89093AB6-12BA-F18B-9DF1-D56C7EE755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31C6B00-9122-AAE9-B364-15489A4A5D2B}"/>
              </a:ext>
            </a:extLst>
          </p:cNvPr>
          <p:cNvSpPr>
            <a:spLocks noGrp="1"/>
          </p:cNvSpPr>
          <p:nvPr>
            <p:ph type="sldNum" sz="quarter" idx="12"/>
          </p:nvPr>
        </p:nvSpPr>
        <p:spPr/>
        <p:txBody>
          <a:bodyPr/>
          <a:lstStyle/>
          <a:p>
            <a:fld id="{772B7C9A-1D7B-46D3-AB6C-73A3C0599A35}" type="slidenum">
              <a:rPr lang="en-US" smtClean="0"/>
              <a:t>‹#›</a:t>
            </a:fld>
            <a:endParaRPr lang="en-US"/>
          </a:p>
        </p:txBody>
      </p:sp>
    </p:spTree>
    <p:extLst>
      <p:ext uri="{BB962C8B-B14F-4D97-AF65-F5344CB8AC3E}">
        <p14:creationId xmlns:p14="http://schemas.microsoft.com/office/powerpoint/2010/main" val="2006591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D6BFD-6E7B-14E7-C171-D485B553E1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FE96EB-B2C2-3369-58CB-B6340C87D1EA}"/>
              </a:ext>
            </a:extLst>
          </p:cNvPr>
          <p:cNvSpPr>
            <a:spLocks noGrp="1"/>
          </p:cNvSpPr>
          <p:nvPr>
            <p:ph type="dt" sz="half" idx="10"/>
          </p:nvPr>
        </p:nvSpPr>
        <p:spPr/>
        <p:txBody>
          <a:bodyPr/>
          <a:lstStyle/>
          <a:p>
            <a:fld id="{2E66FE17-CF80-421A-A212-89CF03D58BCA}" type="datetimeFigureOut">
              <a:rPr lang="en-US" smtClean="0"/>
              <a:t>8/8/2025</a:t>
            </a:fld>
            <a:endParaRPr lang="en-US"/>
          </a:p>
        </p:txBody>
      </p:sp>
      <p:sp>
        <p:nvSpPr>
          <p:cNvPr id="4" name="Footer Placeholder 3">
            <a:extLst>
              <a:ext uri="{FF2B5EF4-FFF2-40B4-BE49-F238E27FC236}">
                <a16:creationId xmlns:a16="http://schemas.microsoft.com/office/drawing/2014/main" id="{D3577692-0497-60CD-B0D9-66B4A3A07C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3CAB23-C9F2-58FE-E3C6-206C9531AD15}"/>
              </a:ext>
            </a:extLst>
          </p:cNvPr>
          <p:cNvSpPr>
            <a:spLocks noGrp="1"/>
          </p:cNvSpPr>
          <p:nvPr>
            <p:ph type="sldNum" sz="quarter" idx="12"/>
          </p:nvPr>
        </p:nvSpPr>
        <p:spPr/>
        <p:txBody>
          <a:bodyPr/>
          <a:lstStyle/>
          <a:p>
            <a:fld id="{772B7C9A-1D7B-46D3-AB6C-73A3C0599A35}" type="slidenum">
              <a:rPr lang="en-US" smtClean="0"/>
              <a:t>‹#›</a:t>
            </a:fld>
            <a:endParaRPr lang="en-US"/>
          </a:p>
        </p:txBody>
      </p:sp>
    </p:spTree>
    <p:extLst>
      <p:ext uri="{BB962C8B-B14F-4D97-AF65-F5344CB8AC3E}">
        <p14:creationId xmlns:p14="http://schemas.microsoft.com/office/powerpoint/2010/main" val="1421921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6B37EE-367C-67A5-238D-04ED761794C0}"/>
              </a:ext>
            </a:extLst>
          </p:cNvPr>
          <p:cNvSpPr>
            <a:spLocks noGrp="1"/>
          </p:cNvSpPr>
          <p:nvPr>
            <p:ph type="dt" sz="half" idx="10"/>
          </p:nvPr>
        </p:nvSpPr>
        <p:spPr/>
        <p:txBody>
          <a:bodyPr/>
          <a:lstStyle/>
          <a:p>
            <a:fld id="{2E66FE17-CF80-421A-A212-89CF03D58BCA}" type="datetimeFigureOut">
              <a:rPr lang="en-US" smtClean="0"/>
              <a:t>8/8/2025</a:t>
            </a:fld>
            <a:endParaRPr lang="en-US"/>
          </a:p>
        </p:txBody>
      </p:sp>
      <p:sp>
        <p:nvSpPr>
          <p:cNvPr id="3" name="Footer Placeholder 2">
            <a:extLst>
              <a:ext uri="{FF2B5EF4-FFF2-40B4-BE49-F238E27FC236}">
                <a16:creationId xmlns:a16="http://schemas.microsoft.com/office/drawing/2014/main" id="{5B2396F1-A5DD-1EF6-063B-A8AACFC0A3B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0B446B-0906-09D5-B03C-38954D0B8BE5}"/>
              </a:ext>
            </a:extLst>
          </p:cNvPr>
          <p:cNvSpPr>
            <a:spLocks noGrp="1"/>
          </p:cNvSpPr>
          <p:nvPr>
            <p:ph type="sldNum" sz="quarter" idx="12"/>
          </p:nvPr>
        </p:nvSpPr>
        <p:spPr/>
        <p:txBody>
          <a:bodyPr/>
          <a:lstStyle/>
          <a:p>
            <a:fld id="{772B7C9A-1D7B-46D3-AB6C-73A3C0599A35}" type="slidenum">
              <a:rPr lang="en-US" smtClean="0"/>
              <a:t>‹#›</a:t>
            </a:fld>
            <a:endParaRPr lang="en-US"/>
          </a:p>
        </p:txBody>
      </p:sp>
    </p:spTree>
    <p:extLst>
      <p:ext uri="{BB962C8B-B14F-4D97-AF65-F5344CB8AC3E}">
        <p14:creationId xmlns:p14="http://schemas.microsoft.com/office/powerpoint/2010/main" val="343401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97D03-79DD-2576-1399-89BF7311DC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616D75-BFB7-415C-98D5-081116A597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BBF88D-4936-3B56-8A04-9B35D0E4D2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D74962-DEEC-8BEC-7FCD-DBB4DCA94EFF}"/>
              </a:ext>
            </a:extLst>
          </p:cNvPr>
          <p:cNvSpPr>
            <a:spLocks noGrp="1"/>
          </p:cNvSpPr>
          <p:nvPr>
            <p:ph type="dt" sz="half" idx="10"/>
          </p:nvPr>
        </p:nvSpPr>
        <p:spPr/>
        <p:txBody>
          <a:bodyPr/>
          <a:lstStyle/>
          <a:p>
            <a:fld id="{2E66FE17-CF80-421A-A212-89CF03D58BCA}" type="datetimeFigureOut">
              <a:rPr lang="en-US" smtClean="0"/>
              <a:t>8/8/2025</a:t>
            </a:fld>
            <a:endParaRPr lang="en-US"/>
          </a:p>
        </p:txBody>
      </p:sp>
      <p:sp>
        <p:nvSpPr>
          <p:cNvPr id="6" name="Footer Placeholder 5">
            <a:extLst>
              <a:ext uri="{FF2B5EF4-FFF2-40B4-BE49-F238E27FC236}">
                <a16:creationId xmlns:a16="http://schemas.microsoft.com/office/drawing/2014/main" id="{E0C152E3-026B-7776-9BF3-B6D1685CCA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3FDA2D-0D3D-7921-B9AC-1CF0FF4ADB52}"/>
              </a:ext>
            </a:extLst>
          </p:cNvPr>
          <p:cNvSpPr>
            <a:spLocks noGrp="1"/>
          </p:cNvSpPr>
          <p:nvPr>
            <p:ph type="sldNum" sz="quarter" idx="12"/>
          </p:nvPr>
        </p:nvSpPr>
        <p:spPr/>
        <p:txBody>
          <a:bodyPr/>
          <a:lstStyle/>
          <a:p>
            <a:fld id="{772B7C9A-1D7B-46D3-AB6C-73A3C0599A35}" type="slidenum">
              <a:rPr lang="en-US" smtClean="0"/>
              <a:t>‹#›</a:t>
            </a:fld>
            <a:endParaRPr lang="en-US"/>
          </a:p>
        </p:txBody>
      </p:sp>
    </p:spTree>
    <p:extLst>
      <p:ext uri="{BB962C8B-B14F-4D97-AF65-F5344CB8AC3E}">
        <p14:creationId xmlns:p14="http://schemas.microsoft.com/office/powerpoint/2010/main" val="1268178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012E9-D020-F89C-8770-443FFE04C0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1864F9-CFA4-5676-E22F-11A63BB4B6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406D6E3-2258-7BE5-1F23-80A8B2C0DF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6E97A5-0DCD-F0FF-FC8A-CFF61F8E5311}"/>
              </a:ext>
            </a:extLst>
          </p:cNvPr>
          <p:cNvSpPr>
            <a:spLocks noGrp="1"/>
          </p:cNvSpPr>
          <p:nvPr>
            <p:ph type="dt" sz="half" idx="10"/>
          </p:nvPr>
        </p:nvSpPr>
        <p:spPr/>
        <p:txBody>
          <a:bodyPr/>
          <a:lstStyle/>
          <a:p>
            <a:fld id="{2E66FE17-CF80-421A-A212-89CF03D58BCA}" type="datetimeFigureOut">
              <a:rPr lang="en-US" smtClean="0"/>
              <a:t>8/8/2025</a:t>
            </a:fld>
            <a:endParaRPr lang="en-US"/>
          </a:p>
        </p:txBody>
      </p:sp>
      <p:sp>
        <p:nvSpPr>
          <p:cNvPr id="6" name="Footer Placeholder 5">
            <a:extLst>
              <a:ext uri="{FF2B5EF4-FFF2-40B4-BE49-F238E27FC236}">
                <a16:creationId xmlns:a16="http://schemas.microsoft.com/office/drawing/2014/main" id="{BFF9A7B5-D36C-2467-C2F4-68CB44AFE6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62845-8B6A-4A52-82A4-167AB8F7C7E6}"/>
              </a:ext>
            </a:extLst>
          </p:cNvPr>
          <p:cNvSpPr>
            <a:spLocks noGrp="1"/>
          </p:cNvSpPr>
          <p:nvPr>
            <p:ph type="sldNum" sz="quarter" idx="12"/>
          </p:nvPr>
        </p:nvSpPr>
        <p:spPr/>
        <p:txBody>
          <a:bodyPr/>
          <a:lstStyle/>
          <a:p>
            <a:fld id="{772B7C9A-1D7B-46D3-AB6C-73A3C0599A35}" type="slidenum">
              <a:rPr lang="en-US" smtClean="0"/>
              <a:t>‹#›</a:t>
            </a:fld>
            <a:endParaRPr lang="en-US"/>
          </a:p>
        </p:txBody>
      </p:sp>
    </p:spTree>
    <p:extLst>
      <p:ext uri="{BB962C8B-B14F-4D97-AF65-F5344CB8AC3E}">
        <p14:creationId xmlns:p14="http://schemas.microsoft.com/office/powerpoint/2010/main" val="3124263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11AB5-91E0-F23F-0DF7-1BD38D7A36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BC66D8-DF89-EB6B-5FC2-080F70B437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49626F-4164-CFCC-3769-FE281DABFE91}"/>
              </a:ext>
            </a:extLst>
          </p:cNvPr>
          <p:cNvSpPr>
            <a:spLocks noGrp="1"/>
          </p:cNvSpPr>
          <p:nvPr>
            <p:ph type="dt" sz="half" idx="10"/>
          </p:nvPr>
        </p:nvSpPr>
        <p:spPr/>
        <p:txBody>
          <a:bodyPr/>
          <a:lstStyle/>
          <a:p>
            <a:fld id="{2E66FE17-CF80-421A-A212-89CF03D58BCA}" type="datetimeFigureOut">
              <a:rPr lang="en-US" smtClean="0"/>
              <a:t>8/8/2025</a:t>
            </a:fld>
            <a:endParaRPr lang="en-US"/>
          </a:p>
        </p:txBody>
      </p:sp>
      <p:sp>
        <p:nvSpPr>
          <p:cNvPr id="5" name="Footer Placeholder 4">
            <a:extLst>
              <a:ext uri="{FF2B5EF4-FFF2-40B4-BE49-F238E27FC236}">
                <a16:creationId xmlns:a16="http://schemas.microsoft.com/office/drawing/2014/main" id="{F3283F50-BDD2-D8D6-DCF3-3A3FBDBC6B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B57F9E-0EEE-55E8-D6CD-06BCC5A9299F}"/>
              </a:ext>
            </a:extLst>
          </p:cNvPr>
          <p:cNvSpPr>
            <a:spLocks noGrp="1"/>
          </p:cNvSpPr>
          <p:nvPr>
            <p:ph type="sldNum" sz="quarter" idx="12"/>
          </p:nvPr>
        </p:nvSpPr>
        <p:spPr/>
        <p:txBody>
          <a:bodyPr/>
          <a:lstStyle/>
          <a:p>
            <a:fld id="{772B7C9A-1D7B-46D3-AB6C-73A3C0599A35}" type="slidenum">
              <a:rPr lang="en-US" smtClean="0"/>
              <a:t>‹#›</a:t>
            </a:fld>
            <a:endParaRPr lang="en-US"/>
          </a:p>
        </p:txBody>
      </p:sp>
    </p:spTree>
    <p:extLst>
      <p:ext uri="{BB962C8B-B14F-4D97-AF65-F5344CB8AC3E}">
        <p14:creationId xmlns:p14="http://schemas.microsoft.com/office/powerpoint/2010/main" val="2345798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6BCF58-CA61-FFD5-28A7-F93EF6873DE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D745C3D-2B0D-9A0C-7F1C-53BC65DB95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D04B4E-B855-4B1B-2259-6E5459F1AEE8}"/>
              </a:ext>
            </a:extLst>
          </p:cNvPr>
          <p:cNvSpPr>
            <a:spLocks noGrp="1"/>
          </p:cNvSpPr>
          <p:nvPr>
            <p:ph type="dt" sz="half" idx="10"/>
          </p:nvPr>
        </p:nvSpPr>
        <p:spPr/>
        <p:txBody>
          <a:bodyPr/>
          <a:lstStyle/>
          <a:p>
            <a:fld id="{2E66FE17-CF80-421A-A212-89CF03D58BCA}" type="datetimeFigureOut">
              <a:rPr lang="en-US" smtClean="0"/>
              <a:t>8/8/2025</a:t>
            </a:fld>
            <a:endParaRPr lang="en-US"/>
          </a:p>
        </p:txBody>
      </p:sp>
      <p:sp>
        <p:nvSpPr>
          <p:cNvPr id="5" name="Footer Placeholder 4">
            <a:extLst>
              <a:ext uri="{FF2B5EF4-FFF2-40B4-BE49-F238E27FC236}">
                <a16:creationId xmlns:a16="http://schemas.microsoft.com/office/drawing/2014/main" id="{6836D54F-E6F8-1CFE-E96B-5FCE3528E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8DBC51-6C9E-42E5-99DD-9547469A1676}"/>
              </a:ext>
            </a:extLst>
          </p:cNvPr>
          <p:cNvSpPr>
            <a:spLocks noGrp="1"/>
          </p:cNvSpPr>
          <p:nvPr>
            <p:ph type="sldNum" sz="quarter" idx="12"/>
          </p:nvPr>
        </p:nvSpPr>
        <p:spPr/>
        <p:txBody>
          <a:bodyPr/>
          <a:lstStyle/>
          <a:p>
            <a:fld id="{772B7C9A-1D7B-46D3-AB6C-73A3C0599A35}" type="slidenum">
              <a:rPr lang="en-US" smtClean="0"/>
              <a:t>‹#›</a:t>
            </a:fld>
            <a:endParaRPr lang="en-US"/>
          </a:p>
        </p:txBody>
      </p:sp>
    </p:spTree>
    <p:extLst>
      <p:ext uri="{BB962C8B-B14F-4D97-AF65-F5344CB8AC3E}">
        <p14:creationId xmlns:p14="http://schemas.microsoft.com/office/powerpoint/2010/main" val="2653028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41D7DA-4BAE-6BA3-6143-3C688B883C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291836-D77B-56AF-AFDF-8D37EAF6C3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B21D0E-366C-26C2-6ABE-B8DA3EDF35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66FE17-CF80-421A-A212-89CF03D58BCA}" type="datetimeFigureOut">
              <a:rPr lang="en-US" smtClean="0"/>
              <a:t>8/8/2025</a:t>
            </a:fld>
            <a:endParaRPr lang="en-US"/>
          </a:p>
        </p:txBody>
      </p:sp>
      <p:sp>
        <p:nvSpPr>
          <p:cNvPr id="5" name="Footer Placeholder 4">
            <a:extLst>
              <a:ext uri="{FF2B5EF4-FFF2-40B4-BE49-F238E27FC236}">
                <a16:creationId xmlns:a16="http://schemas.microsoft.com/office/drawing/2014/main" id="{E5948E53-B764-1B89-82E0-E316EDB7B1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0D8A64B-42A4-ADBA-9CF6-7C4CD4FA9A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2B7C9A-1D7B-46D3-AB6C-73A3C0599A35}" type="slidenum">
              <a:rPr lang="en-US" smtClean="0"/>
              <a:t>‹#›</a:t>
            </a:fld>
            <a:endParaRPr lang="en-US"/>
          </a:p>
        </p:txBody>
      </p:sp>
    </p:spTree>
    <p:extLst>
      <p:ext uri="{BB962C8B-B14F-4D97-AF65-F5344CB8AC3E}">
        <p14:creationId xmlns:p14="http://schemas.microsoft.com/office/powerpoint/2010/main" val="2795758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doi.org/10.11144/Javeriana.umed53-1.efra"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256ACF63-F06D-BDEB-27DC-8747EB14BC1D}"/>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pic>
        <p:nvPicPr>
          <p:cNvPr id="5" name="Picture 4" descr="Several people wearing white masks and white gloves&#10;&#10;AI-generated content may be incorrect.">
            <a:extLst>
              <a:ext uri="{FF2B5EF4-FFF2-40B4-BE49-F238E27FC236}">
                <a16:creationId xmlns:a16="http://schemas.microsoft.com/office/drawing/2014/main" id="{45701DB1-4C9D-14D2-F9B2-D4297554D64D}"/>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t="9217" b="1498"/>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67D194B0-36E4-A6DC-4C0E-5061DE1FCDBF}"/>
              </a:ext>
            </a:extLst>
          </p:cNvPr>
          <p:cNvSpPr>
            <a:spLocks noGrp="1"/>
          </p:cNvSpPr>
          <p:nvPr>
            <p:ph type="ctrTitle"/>
          </p:nvPr>
        </p:nvSpPr>
        <p:spPr>
          <a:xfrm>
            <a:off x="1432560" y="771553"/>
            <a:ext cx="9144000" cy="1810511"/>
          </a:xfrm>
        </p:spPr>
        <p:txBody>
          <a:bodyPr>
            <a:noAutofit/>
          </a:bodyPr>
          <a:lstStyle/>
          <a:p>
            <a:r>
              <a:rPr lang="es-ES" sz="3600" b="1" dirty="0">
                <a:latin typeface="Abadi" panose="020B0604020104020204" pitchFamily="34" charset="0"/>
              </a:rPr>
              <a:t>Identificación de variables predictivas y patrones asociados a anomalías congénitas en recién nacidos utilizando datos del ECLAMC</a:t>
            </a:r>
            <a:endParaRPr lang="es-CO" sz="3600" b="1" noProof="0" dirty="0">
              <a:solidFill>
                <a:srgbClr val="FFFFFF"/>
              </a:solidFill>
              <a:latin typeface="Abadi" panose="020B0604020104020204" pitchFamily="34" charset="0"/>
              <a:ea typeface="ADLaM Display" panose="020F0502020204030204" pitchFamily="2" charset="0"/>
              <a:cs typeface="ADLaM Display" panose="020F0502020204030204" pitchFamily="2" charset="0"/>
            </a:endParaRPr>
          </a:p>
        </p:txBody>
      </p:sp>
      <p:sp>
        <p:nvSpPr>
          <p:cNvPr id="3" name="Subtitle 2">
            <a:extLst>
              <a:ext uri="{FF2B5EF4-FFF2-40B4-BE49-F238E27FC236}">
                <a16:creationId xmlns:a16="http://schemas.microsoft.com/office/drawing/2014/main" id="{629A3261-EFC8-F655-61CD-1770FD0556D9}"/>
              </a:ext>
            </a:extLst>
          </p:cNvPr>
          <p:cNvSpPr>
            <a:spLocks noGrp="1"/>
          </p:cNvSpPr>
          <p:nvPr>
            <p:ph type="subTitle" idx="1"/>
          </p:nvPr>
        </p:nvSpPr>
        <p:spPr>
          <a:xfrm>
            <a:off x="1200912" y="3353616"/>
            <a:ext cx="9144000" cy="1098395"/>
          </a:xfrm>
        </p:spPr>
        <p:txBody>
          <a:bodyPr>
            <a:normAutofit/>
          </a:bodyPr>
          <a:lstStyle/>
          <a:p>
            <a:r>
              <a:rPr lang="es-CO" noProof="0" dirty="0">
                <a:solidFill>
                  <a:srgbClr val="FFFFFF"/>
                </a:solidFill>
                <a:latin typeface="Abadi" panose="020B0604020104020204" pitchFamily="34" charset="0"/>
              </a:rPr>
              <a:t>William Andrés Gómez Roa</a:t>
            </a:r>
          </a:p>
          <a:p>
            <a:r>
              <a:rPr lang="es-CO" noProof="0" dirty="0">
                <a:solidFill>
                  <a:srgbClr val="FFFFFF"/>
                </a:solidFill>
                <a:latin typeface="Abadi" panose="020B0604020104020204" pitchFamily="34" charset="0"/>
              </a:rPr>
              <a:t>Ciencia de Datos</a:t>
            </a:r>
          </a:p>
          <a:p>
            <a:endParaRPr lang="es-CO" noProof="0" dirty="0">
              <a:solidFill>
                <a:srgbClr val="FFFFFF"/>
              </a:solidFill>
            </a:endParaRPr>
          </a:p>
        </p:txBody>
      </p:sp>
      <p:cxnSp>
        <p:nvCxnSpPr>
          <p:cNvPr id="7" name="Straight Connector 6">
            <a:extLst>
              <a:ext uri="{FF2B5EF4-FFF2-40B4-BE49-F238E27FC236}">
                <a16:creationId xmlns:a16="http://schemas.microsoft.com/office/drawing/2014/main" id="{DAA220C3-E0A0-AB7B-CA01-238413568400}"/>
              </a:ext>
            </a:extLst>
          </p:cNvPr>
          <p:cNvCxnSpPr/>
          <p:nvPr/>
        </p:nvCxnSpPr>
        <p:spPr>
          <a:xfrm>
            <a:off x="1078992" y="4800600"/>
            <a:ext cx="9625584"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8" name="Subtitle 2">
            <a:extLst>
              <a:ext uri="{FF2B5EF4-FFF2-40B4-BE49-F238E27FC236}">
                <a16:creationId xmlns:a16="http://schemas.microsoft.com/office/drawing/2014/main" id="{3AC660F7-49F3-4B56-093E-6ADE18D99000}"/>
              </a:ext>
            </a:extLst>
          </p:cNvPr>
          <p:cNvSpPr txBox="1">
            <a:spLocks/>
          </p:cNvSpPr>
          <p:nvPr/>
        </p:nvSpPr>
        <p:spPr>
          <a:xfrm>
            <a:off x="1200912" y="5149190"/>
            <a:ext cx="9144000" cy="1098395"/>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s-CO" sz="2000" dirty="0">
                <a:solidFill>
                  <a:srgbClr val="FFFFFF"/>
                </a:solidFill>
                <a:latin typeface="Abadi" panose="020B0604020104020204" pitchFamily="34" charset="0"/>
              </a:rPr>
              <a:t>Dirigido por </a:t>
            </a:r>
          </a:p>
          <a:p>
            <a:r>
              <a:rPr lang="es-CO" sz="1800" dirty="0">
                <a:solidFill>
                  <a:srgbClr val="FFFFFF"/>
                </a:solidFill>
                <a:latin typeface="Abadi" panose="020B0604020104020204" pitchFamily="34" charset="0"/>
              </a:rPr>
              <a:t>Doctor Ignacio </a:t>
            </a:r>
            <a:r>
              <a:rPr lang="es-CO" sz="1800" dirty="0" err="1">
                <a:solidFill>
                  <a:srgbClr val="FFFFFF"/>
                </a:solidFill>
                <a:latin typeface="Abadi" panose="020B0604020104020204" pitchFamily="34" charset="0"/>
              </a:rPr>
              <a:t>Zarante</a:t>
            </a:r>
            <a:r>
              <a:rPr lang="es-CO" sz="1800" dirty="0">
                <a:solidFill>
                  <a:srgbClr val="FFFFFF"/>
                </a:solidFill>
                <a:latin typeface="Abadi" panose="020B0604020104020204" pitchFamily="34" charset="0"/>
              </a:rPr>
              <a:t>, MD, </a:t>
            </a:r>
            <a:r>
              <a:rPr lang="es-CO" sz="1800" dirty="0" err="1">
                <a:solidFill>
                  <a:srgbClr val="FFFFFF"/>
                </a:solidFill>
                <a:latin typeface="Abadi" panose="020B0604020104020204" pitchFamily="34" charset="0"/>
              </a:rPr>
              <a:t>MSc</a:t>
            </a:r>
            <a:r>
              <a:rPr lang="es-CO" sz="1800" dirty="0">
                <a:solidFill>
                  <a:srgbClr val="FFFFFF"/>
                </a:solidFill>
                <a:latin typeface="Abadi" panose="020B0604020104020204" pitchFamily="34" charset="0"/>
              </a:rPr>
              <a:t>, PhD  </a:t>
            </a:r>
          </a:p>
          <a:p>
            <a:r>
              <a:rPr lang="es-CO" sz="1800" dirty="0">
                <a:solidFill>
                  <a:srgbClr val="FFFFFF"/>
                </a:solidFill>
                <a:latin typeface="Abadi" panose="020B0604020104020204" pitchFamily="34" charset="0"/>
              </a:rPr>
              <a:t>Facultad de Medicina </a:t>
            </a:r>
          </a:p>
          <a:p>
            <a:endParaRPr lang="es-CO" dirty="0">
              <a:solidFill>
                <a:srgbClr val="FFFFFF"/>
              </a:solidFill>
            </a:endParaRPr>
          </a:p>
        </p:txBody>
      </p:sp>
    </p:spTree>
    <p:extLst>
      <p:ext uri="{BB962C8B-B14F-4D97-AF65-F5344CB8AC3E}">
        <p14:creationId xmlns:p14="http://schemas.microsoft.com/office/powerpoint/2010/main" val="64877539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76D9E89-DFF8-4F2A-9489-B3CD4FDC6BC0}"/>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Close-up of a doctor's hand using a computer&#10;&#10;AI-generated content may be incorrect.">
            <a:extLst>
              <a:ext uri="{FF2B5EF4-FFF2-40B4-BE49-F238E27FC236}">
                <a16:creationId xmlns:a16="http://schemas.microsoft.com/office/drawing/2014/main" id="{F70388DF-551A-7635-5770-E856F7B82C92}"/>
              </a:ext>
            </a:extLst>
          </p:cNvPr>
          <p:cNvPicPr>
            <a:picLocks noChangeAspect="1"/>
          </p:cNvPicPr>
          <p:nvPr/>
        </p:nvPicPr>
        <p:blipFill>
          <a:blip r:embed="rId2">
            <a:alphaModFix amt="20000"/>
            <a:extLst>
              <a:ext uri="{28A0092B-C50C-407E-A947-70E740481C1C}">
                <a14:useLocalDpi xmlns:a14="http://schemas.microsoft.com/office/drawing/2010/main" val="0"/>
              </a:ext>
            </a:extLst>
          </a:blip>
          <a:srcRect/>
          <a:stretch>
            <a:fillRect/>
          </a:stretch>
        </p:blipFill>
        <p:spPr>
          <a:xfrm>
            <a:off x="20" y="1"/>
            <a:ext cx="12191980" cy="6857999"/>
          </a:xfrm>
          <a:prstGeom prst="rect">
            <a:avLst/>
          </a:prstGeom>
        </p:spPr>
      </p:pic>
      <p:sp>
        <p:nvSpPr>
          <p:cNvPr id="12" name="TextBox 11">
            <a:extLst>
              <a:ext uri="{FF2B5EF4-FFF2-40B4-BE49-F238E27FC236}">
                <a16:creationId xmlns:a16="http://schemas.microsoft.com/office/drawing/2014/main" id="{ACCD149D-5E20-FC01-CFB7-D5C0951E9788}"/>
              </a:ext>
            </a:extLst>
          </p:cNvPr>
          <p:cNvSpPr txBox="1"/>
          <p:nvPr/>
        </p:nvSpPr>
        <p:spPr>
          <a:xfrm>
            <a:off x="1735455" y="329282"/>
            <a:ext cx="8885682" cy="1200329"/>
          </a:xfrm>
          <a:prstGeom prst="rect">
            <a:avLst/>
          </a:prstGeom>
          <a:noFill/>
        </p:spPr>
        <p:txBody>
          <a:bodyPr wrap="square">
            <a:spAutoFit/>
          </a:bodyPr>
          <a:lstStyle/>
          <a:p>
            <a:pPr algn="ctr"/>
            <a:r>
              <a:rPr lang="es-ES" sz="2400" b="1" dirty="0">
                <a:latin typeface="Abadi" panose="020B0604020104020204" pitchFamily="34" charset="0"/>
              </a:rPr>
              <a:t>IDENTIFICACIÓN DE VARIABLES PREDICTIVAS Y PATRONES ASOCIADOS A ANOMALÍAS CONGÉNITAS EN RECIÉN NACIDOS UTILIZANDO DATOS DEL ECLAMC</a:t>
            </a:r>
            <a:endParaRPr lang="en-US" sz="2400" dirty="0"/>
          </a:p>
        </p:txBody>
      </p:sp>
      <p:cxnSp>
        <p:nvCxnSpPr>
          <p:cNvPr id="13" name="Straight Connector 12">
            <a:extLst>
              <a:ext uri="{FF2B5EF4-FFF2-40B4-BE49-F238E27FC236}">
                <a16:creationId xmlns:a16="http://schemas.microsoft.com/office/drawing/2014/main" id="{FE90A69D-C68E-012D-9E9F-B32381579553}"/>
              </a:ext>
            </a:extLst>
          </p:cNvPr>
          <p:cNvCxnSpPr>
            <a:cxnSpLocks/>
          </p:cNvCxnSpPr>
          <p:nvPr/>
        </p:nvCxnSpPr>
        <p:spPr>
          <a:xfrm>
            <a:off x="631122" y="1600200"/>
            <a:ext cx="1109434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14" name="Title 1">
            <a:extLst>
              <a:ext uri="{FF2B5EF4-FFF2-40B4-BE49-F238E27FC236}">
                <a16:creationId xmlns:a16="http://schemas.microsoft.com/office/drawing/2014/main" id="{E4146452-9914-D946-40E1-7ACF41C8F11E}"/>
              </a:ext>
            </a:extLst>
          </p:cNvPr>
          <p:cNvSpPr>
            <a:spLocks noGrp="1"/>
          </p:cNvSpPr>
          <p:nvPr>
            <p:ph type="ctrTitle"/>
          </p:nvPr>
        </p:nvSpPr>
        <p:spPr>
          <a:xfrm>
            <a:off x="3995928" y="1590710"/>
            <a:ext cx="4364736" cy="793558"/>
          </a:xfrm>
        </p:spPr>
        <p:txBody>
          <a:bodyPr vert="horz" lIns="91440" tIns="45720" rIns="91440" bIns="45720" rtlCol="0" anchor="ctr">
            <a:noAutofit/>
          </a:bodyPr>
          <a:lstStyle/>
          <a:p>
            <a:pPr algn="l"/>
            <a:br>
              <a:rPr lang="es-CO" sz="3600" noProof="0" dirty="0">
                <a:solidFill>
                  <a:srgbClr val="FFFFFF"/>
                </a:solidFill>
                <a:latin typeface="Abadi" panose="020B0604020104020204" pitchFamily="34" charset="0"/>
              </a:rPr>
            </a:br>
            <a:r>
              <a:rPr lang="es-CO" sz="3600" noProof="0" dirty="0">
                <a:solidFill>
                  <a:srgbClr val="FFFFFF"/>
                </a:solidFill>
                <a:latin typeface="Abadi" panose="020B0604020104020204" pitchFamily="34" charset="0"/>
              </a:rPr>
              <a:t>Tabla de Contenidos</a:t>
            </a:r>
          </a:p>
        </p:txBody>
      </p:sp>
      <p:sp>
        <p:nvSpPr>
          <p:cNvPr id="15" name="Subtitle 2">
            <a:extLst>
              <a:ext uri="{FF2B5EF4-FFF2-40B4-BE49-F238E27FC236}">
                <a16:creationId xmlns:a16="http://schemas.microsoft.com/office/drawing/2014/main" id="{0E115131-B00E-2572-95C0-C8E2F02DBA8A}"/>
              </a:ext>
            </a:extLst>
          </p:cNvPr>
          <p:cNvSpPr>
            <a:spLocks noGrp="1"/>
          </p:cNvSpPr>
          <p:nvPr>
            <p:ph type="subTitle" idx="1"/>
          </p:nvPr>
        </p:nvSpPr>
        <p:spPr>
          <a:xfrm>
            <a:off x="734568" y="2781047"/>
            <a:ext cx="5443728" cy="3447670"/>
          </a:xfrm>
        </p:spPr>
        <p:txBody>
          <a:bodyPr vert="horz" lIns="91440" tIns="45720" rIns="91440" bIns="45720" rtlCol="0">
            <a:normAutofit/>
          </a:bodyPr>
          <a:lstStyle/>
          <a:p>
            <a:pPr marL="342900" indent="-228600" algn="l">
              <a:buFont typeface="Arial" panose="020B0604020202020204" pitchFamily="34" charset="0"/>
              <a:buChar char="•"/>
            </a:pPr>
            <a:r>
              <a:rPr lang="es-CO" sz="2000" noProof="0" dirty="0">
                <a:solidFill>
                  <a:srgbClr val="FFFFFF"/>
                </a:solidFill>
                <a:latin typeface="Abadi" panose="020B0604020104020204" pitchFamily="34" charset="0"/>
              </a:rPr>
              <a:t>Introducción</a:t>
            </a:r>
          </a:p>
          <a:p>
            <a:pPr marL="914400" lvl="1" indent="-342900" algn="l">
              <a:buFontTx/>
              <a:buChar char="-"/>
            </a:pPr>
            <a:r>
              <a:rPr lang="es-CO" sz="1800" noProof="0" dirty="0">
                <a:solidFill>
                  <a:srgbClr val="FFFFFF"/>
                </a:solidFill>
                <a:latin typeface="Abadi" panose="020B0604020104020204" pitchFamily="34" charset="0"/>
              </a:rPr>
              <a:t>Malformaciones Congénitas</a:t>
            </a:r>
          </a:p>
          <a:p>
            <a:pPr marL="914400" lvl="1" indent="-342900" algn="l">
              <a:buFontTx/>
              <a:buChar char="-"/>
            </a:pPr>
            <a:r>
              <a:rPr lang="es-CO" sz="1800" dirty="0">
                <a:solidFill>
                  <a:srgbClr val="FFFFFF"/>
                </a:solidFill>
                <a:latin typeface="Abadi" panose="020B0604020104020204" pitchFamily="34" charset="0"/>
              </a:rPr>
              <a:t>ECLAMC</a:t>
            </a:r>
          </a:p>
          <a:p>
            <a:pPr marL="914400" lvl="1" indent="-342900" algn="l">
              <a:buFontTx/>
              <a:buChar char="-"/>
            </a:pPr>
            <a:r>
              <a:rPr lang="es-CO" sz="1800" dirty="0">
                <a:solidFill>
                  <a:srgbClr val="FFFFFF"/>
                </a:solidFill>
                <a:latin typeface="Abadi" panose="020B0604020104020204" pitchFamily="34" charset="0"/>
              </a:rPr>
              <a:t>Método de recolección de datos</a:t>
            </a:r>
          </a:p>
          <a:p>
            <a:pPr marL="571500" lvl="1" algn="l"/>
            <a:endParaRPr lang="es-CO" sz="1800" noProof="0" dirty="0">
              <a:solidFill>
                <a:srgbClr val="FFFFFF"/>
              </a:solidFill>
              <a:latin typeface="Abadi" panose="020B0604020104020204" pitchFamily="34" charset="0"/>
            </a:endParaRPr>
          </a:p>
          <a:p>
            <a:pPr marL="342900" indent="-228600" algn="l">
              <a:buFont typeface="Arial" panose="020B0604020202020204" pitchFamily="34" charset="0"/>
              <a:buChar char="•"/>
            </a:pPr>
            <a:r>
              <a:rPr lang="es-CO" sz="2000" noProof="0" dirty="0">
                <a:solidFill>
                  <a:srgbClr val="FFFFFF"/>
                </a:solidFill>
                <a:latin typeface="Abadi" panose="020B0604020104020204" pitchFamily="34" charset="0"/>
              </a:rPr>
              <a:t>Justificación</a:t>
            </a:r>
            <a:r>
              <a:rPr lang="es-CO" sz="2000" dirty="0">
                <a:solidFill>
                  <a:srgbClr val="FFFFFF"/>
                </a:solidFill>
                <a:latin typeface="Abadi" panose="020B0604020104020204" pitchFamily="34" charset="0"/>
              </a:rPr>
              <a:t> del problema</a:t>
            </a:r>
          </a:p>
          <a:p>
            <a:pPr marL="114300" algn="l"/>
            <a:endParaRPr lang="es-CO" sz="2000" noProof="0" dirty="0">
              <a:solidFill>
                <a:srgbClr val="FFFFFF"/>
              </a:solidFill>
              <a:latin typeface="Abadi" panose="020B0604020104020204" pitchFamily="34" charset="0"/>
            </a:endParaRPr>
          </a:p>
          <a:p>
            <a:pPr marL="342900" indent="-228600" algn="l">
              <a:buFont typeface="Arial" panose="020B0604020202020204" pitchFamily="34" charset="0"/>
              <a:buChar char="•"/>
            </a:pPr>
            <a:r>
              <a:rPr lang="es-CO" sz="2000" noProof="0" dirty="0">
                <a:solidFill>
                  <a:srgbClr val="FFFFFF"/>
                </a:solidFill>
                <a:latin typeface="Abadi" panose="020B0604020104020204" pitchFamily="34" charset="0"/>
              </a:rPr>
              <a:t>Objetivos</a:t>
            </a:r>
          </a:p>
          <a:p>
            <a:pPr marL="914400" lvl="1" indent="-342900" algn="l">
              <a:buFontTx/>
              <a:buChar char="-"/>
            </a:pPr>
            <a:r>
              <a:rPr lang="es-CO" sz="1800" dirty="0">
                <a:solidFill>
                  <a:srgbClr val="FFFFFF"/>
                </a:solidFill>
                <a:latin typeface="Abadi" panose="020B0604020104020204" pitchFamily="34" charset="0"/>
              </a:rPr>
              <a:t>Objetivo General</a:t>
            </a:r>
          </a:p>
          <a:p>
            <a:pPr marL="914400" lvl="1" indent="-342900" algn="l">
              <a:buFontTx/>
              <a:buChar char="-"/>
            </a:pPr>
            <a:r>
              <a:rPr lang="es-CO" sz="1800" noProof="0" dirty="0">
                <a:solidFill>
                  <a:srgbClr val="FFFFFF"/>
                </a:solidFill>
                <a:latin typeface="Abadi" panose="020B0604020104020204" pitchFamily="34" charset="0"/>
              </a:rPr>
              <a:t>Objetivos Específicos</a:t>
            </a:r>
          </a:p>
          <a:p>
            <a:pPr marL="342900" indent="-228600" algn="l">
              <a:buFont typeface="Arial" panose="020B0604020202020204" pitchFamily="34" charset="0"/>
              <a:buChar char="•"/>
            </a:pPr>
            <a:endParaRPr lang="es-CO" noProof="0" dirty="0">
              <a:solidFill>
                <a:srgbClr val="FFFFFF"/>
              </a:solidFill>
            </a:endParaRPr>
          </a:p>
        </p:txBody>
      </p:sp>
    </p:spTree>
    <p:extLst>
      <p:ext uri="{BB962C8B-B14F-4D97-AF65-F5344CB8AC3E}">
        <p14:creationId xmlns:p14="http://schemas.microsoft.com/office/powerpoint/2010/main" val="30088446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14"/>
                                        </p:tgtEl>
                                        <p:attrNameLst>
                                          <p:attrName>style.visibility</p:attrName>
                                        </p:attrNameLst>
                                      </p:cBhvr>
                                      <p:to>
                                        <p:strVal val="visible"/>
                                      </p:to>
                                    </p:set>
                                    <p:animEffect transition="in" filter="fade">
                                      <p:cBhvr>
                                        <p:cTn id="7" dur="700"/>
                                        <p:tgtEl>
                                          <p:spTgt spid="14"/>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15">
                                            <p:txEl>
                                              <p:pRg st="0" end="0"/>
                                            </p:txEl>
                                          </p:spTgt>
                                        </p:tgtEl>
                                        <p:attrNameLst>
                                          <p:attrName>style.visibility</p:attrName>
                                        </p:attrNameLst>
                                      </p:cBhvr>
                                      <p:to>
                                        <p:strVal val="visible"/>
                                      </p:to>
                                    </p:set>
                                    <p:animEffect transition="in" filter="fade">
                                      <p:cBhvr>
                                        <p:cTn id="10" dur="700"/>
                                        <p:tgtEl>
                                          <p:spTgt spid="15">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15">
                                            <p:txEl>
                                              <p:pRg st="1" end="1"/>
                                            </p:txEl>
                                          </p:spTgt>
                                        </p:tgtEl>
                                        <p:attrNameLst>
                                          <p:attrName>style.visibility</p:attrName>
                                        </p:attrNameLst>
                                      </p:cBhvr>
                                      <p:to>
                                        <p:strVal val="visible"/>
                                      </p:to>
                                    </p:set>
                                    <p:animEffect transition="in" filter="fade">
                                      <p:cBhvr>
                                        <p:cTn id="13" dur="700"/>
                                        <p:tgtEl>
                                          <p:spTgt spid="15">
                                            <p:txEl>
                                              <p:pRg st="1" end="1"/>
                                            </p:txEl>
                                          </p:spTgt>
                                        </p:tgtEl>
                                      </p:cBhvr>
                                    </p:animEffect>
                                  </p:childTnLst>
                                </p:cTn>
                              </p:par>
                              <p:par>
                                <p:cTn id="14" presetID="10" presetClass="entr" presetSubtype="0" fill="hold" grpId="0" nodeType="withEffect">
                                  <p:stCondLst>
                                    <p:cond delay="1500"/>
                                  </p:stCondLst>
                                  <p:iterate>
                                    <p:tmPct val="10000"/>
                                  </p:iterate>
                                  <p:childTnLst>
                                    <p:set>
                                      <p:cBhvr>
                                        <p:cTn id="15" dur="1" fill="hold">
                                          <p:stCondLst>
                                            <p:cond delay="0"/>
                                          </p:stCondLst>
                                        </p:cTn>
                                        <p:tgtEl>
                                          <p:spTgt spid="15">
                                            <p:txEl>
                                              <p:pRg st="2" end="2"/>
                                            </p:txEl>
                                          </p:spTgt>
                                        </p:tgtEl>
                                        <p:attrNameLst>
                                          <p:attrName>style.visibility</p:attrName>
                                        </p:attrNameLst>
                                      </p:cBhvr>
                                      <p:to>
                                        <p:strVal val="visible"/>
                                      </p:to>
                                    </p:set>
                                    <p:animEffect transition="in" filter="fade">
                                      <p:cBhvr>
                                        <p:cTn id="16" dur="700"/>
                                        <p:tgtEl>
                                          <p:spTgt spid="15">
                                            <p:txEl>
                                              <p:pRg st="2" end="2"/>
                                            </p:txEl>
                                          </p:spTgt>
                                        </p:tgtEl>
                                      </p:cBhvr>
                                    </p:animEffect>
                                  </p:childTnLst>
                                </p:cTn>
                              </p:par>
                              <p:par>
                                <p:cTn id="17" presetID="10" presetClass="entr" presetSubtype="0" fill="hold" grpId="0" nodeType="withEffect">
                                  <p:stCondLst>
                                    <p:cond delay="1500"/>
                                  </p:stCondLst>
                                  <p:iterate>
                                    <p:tmPct val="10000"/>
                                  </p:iterate>
                                  <p:childTnLst>
                                    <p:set>
                                      <p:cBhvr>
                                        <p:cTn id="18" dur="1" fill="hold">
                                          <p:stCondLst>
                                            <p:cond delay="0"/>
                                          </p:stCondLst>
                                        </p:cTn>
                                        <p:tgtEl>
                                          <p:spTgt spid="15">
                                            <p:txEl>
                                              <p:pRg st="3" end="3"/>
                                            </p:txEl>
                                          </p:spTgt>
                                        </p:tgtEl>
                                        <p:attrNameLst>
                                          <p:attrName>style.visibility</p:attrName>
                                        </p:attrNameLst>
                                      </p:cBhvr>
                                      <p:to>
                                        <p:strVal val="visible"/>
                                      </p:to>
                                    </p:set>
                                    <p:animEffect transition="in" filter="fade">
                                      <p:cBhvr>
                                        <p:cTn id="19" dur="700"/>
                                        <p:tgtEl>
                                          <p:spTgt spid="15">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1500"/>
                                  </p:stCondLst>
                                  <p:iterate>
                                    <p:tmPct val="10000"/>
                                  </p:iterate>
                                  <p:childTnLst>
                                    <p:set>
                                      <p:cBhvr>
                                        <p:cTn id="23" dur="1" fill="hold">
                                          <p:stCondLst>
                                            <p:cond delay="0"/>
                                          </p:stCondLst>
                                        </p:cTn>
                                        <p:tgtEl>
                                          <p:spTgt spid="15">
                                            <p:txEl>
                                              <p:pRg st="5" end="5"/>
                                            </p:txEl>
                                          </p:spTgt>
                                        </p:tgtEl>
                                        <p:attrNameLst>
                                          <p:attrName>style.visibility</p:attrName>
                                        </p:attrNameLst>
                                      </p:cBhvr>
                                      <p:to>
                                        <p:strVal val="visible"/>
                                      </p:to>
                                    </p:set>
                                    <p:animEffect transition="in" filter="fade">
                                      <p:cBhvr>
                                        <p:cTn id="24" dur="700"/>
                                        <p:tgtEl>
                                          <p:spTgt spid="15">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1500"/>
                                  </p:stCondLst>
                                  <p:iterate>
                                    <p:tmPct val="10000"/>
                                  </p:iterate>
                                  <p:childTnLst>
                                    <p:set>
                                      <p:cBhvr>
                                        <p:cTn id="28" dur="1" fill="hold">
                                          <p:stCondLst>
                                            <p:cond delay="0"/>
                                          </p:stCondLst>
                                        </p:cTn>
                                        <p:tgtEl>
                                          <p:spTgt spid="15">
                                            <p:txEl>
                                              <p:pRg st="7" end="7"/>
                                            </p:txEl>
                                          </p:spTgt>
                                        </p:tgtEl>
                                        <p:attrNameLst>
                                          <p:attrName>style.visibility</p:attrName>
                                        </p:attrNameLst>
                                      </p:cBhvr>
                                      <p:to>
                                        <p:strVal val="visible"/>
                                      </p:to>
                                    </p:set>
                                    <p:animEffect transition="in" filter="fade">
                                      <p:cBhvr>
                                        <p:cTn id="29" dur="700"/>
                                        <p:tgtEl>
                                          <p:spTgt spid="15">
                                            <p:txEl>
                                              <p:pRg st="7" end="7"/>
                                            </p:txEl>
                                          </p:spTgt>
                                        </p:tgtEl>
                                      </p:cBhvr>
                                    </p:animEffect>
                                  </p:childTnLst>
                                </p:cTn>
                              </p:par>
                              <p:par>
                                <p:cTn id="30" presetID="10" presetClass="entr" presetSubtype="0" fill="hold" grpId="0" nodeType="withEffect">
                                  <p:stCondLst>
                                    <p:cond delay="1500"/>
                                  </p:stCondLst>
                                  <p:iterate>
                                    <p:tmPct val="10000"/>
                                  </p:iterate>
                                  <p:childTnLst>
                                    <p:set>
                                      <p:cBhvr>
                                        <p:cTn id="31" dur="1" fill="hold">
                                          <p:stCondLst>
                                            <p:cond delay="0"/>
                                          </p:stCondLst>
                                        </p:cTn>
                                        <p:tgtEl>
                                          <p:spTgt spid="15">
                                            <p:txEl>
                                              <p:pRg st="8" end="8"/>
                                            </p:txEl>
                                          </p:spTgt>
                                        </p:tgtEl>
                                        <p:attrNameLst>
                                          <p:attrName>style.visibility</p:attrName>
                                        </p:attrNameLst>
                                      </p:cBhvr>
                                      <p:to>
                                        <p:strVal val="visible"/>
                                      </p:to>
                                    </p:set>
                                    <p:animEffect transition="in" filter="fade">
                                      <p:cBhvr>
                                        <p:cTn id="32" dur="700"/>
                                        <p:tgtEl>
                                          <p:spTgt spid="15">
                                            <p:txEl>
                                              <p:pRg st="8" end="8"/>
                                            </p:txEl>
                                          </p:spTgt>
                                        </p:tgtEl>
                                      </p:cBhvr>
                                    </p:animEffect>
                                  </p:childTnLst>
                                </p:cTn>
                              </p:par>
                              <p:par>
                                <p:cTn id="33" presetID="10" presetClass="entr" presetSubtype="0" fill="hold" grpId="0" nodeType="withEffect">
                                  <p:stCondLst>
                                    <p:cond delay="1500"/>
                                  </p:stCondLst>
                                  <p:iterate>
                                    <p:tmPct val="10000"/>
                                  </p:iterate>
                                  <p:childTnLst>
                                    <p:set>
                                      <p:cBhvr>
                                        <p:cTn id="34" dur="1" fill="hold">
                                          <p:stCondLst>
                                            <p:cond delay="0"/>
                                          </p:stCondLst>
                                        </p:cTn>
                                        <p:tgtEl>
                                          <p:spTgt spid="15">
                                            <p:txEl>
                                              <p:pRg st="9" end="9"/>
                                            </p:txEl>
                                          </p:spTgt>
                                        </p:tgtEl>
                                        <p:attrNameLst>
                                          <p:attrName>style.visibility</p:attrName>
                                        </p:attrNameLst>
                                      </p:cBhvr>
                                      <p:to>
                                        <p:strVal val="visible"/>
                                      </p:to>
                                    </p:set>
                                    <p:animEffect transition="in" filter="fade">
                                      <p:cBhvr>
                                        <p:cTn id="35" dur="700"/>
                                        <p:tgtEl>
                                          <p:spTgt spid="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9534B7-DDBF-2FCA-F4C0-D715A5697642}"/>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pic>
        <p:nvPicPr>
          <p:cNvPr id="8" name="Picture 7" descr="A pregnant person holding a baby&#10;&#10;AI-generated content may be incorrect.">
            <a:extLst>
              <a:ext uri="{FF2B5EF4-FFF2-40B4-BE49-F238E27FC236}">
                <a16:creationId xmlns:a16="http://schemas.microsoft.com/office/drawing/2014/main" id="{00EAA775-C524-B6D2-20F6-E3DDE269BFFF}"/>
              </a:ext>
            </a:extLst>
          </p:cNvPr>
          <p:cNvPicPr>
            <a:picLocks noChangeAspect="1"/>
          </p:cNvPicPr>
          <p:nvPr/>
        </p:nvPicPr>
        <p:blipFill>
          <a:blip r:embed="rId2">
            <a:extLst>
              <a:ext uri="{28A0092B-C50C-407E-A947-70E740481C1C}">
                <a14:useLocalDpi xmlns:a14="http://schemas.microsoft.com/office/drawing/2010/main" val="0"/>
              </a:ext>
            </a:extLst>
          </a:blip>
          <a:srcRect r="6237"/>
          <a:stretch>
            <a:fillRect/>
          </a:stretch>
        </p:blipFill>
        <p:spPr>
          <a:xfrm>
            <a:off x="2522356" y="10"/>
            <a:ext cx="9669642" cy="6857990"/>
          </a:xfrm>
          <a:prstGeom prst="rect">
            <a:avLst/>
          </a:prstGeom>
        </p:spPr>
      </p:pic>
      <p:sp>
        <p:nvSpPr>
          <p:cNvPr id="22" name="Rectangle 2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2" name="Title 1">
            <a:extLst>
              <a:ext uri="{FF2B5EF4-FFF2-40B4-BE49-F238E27FC236}">
                <a16:creationId xmlns:a16="http://schemas.microsoft.com/office/drawing/2014/main" id="{4FB66B93-F5CD-1F8A-4A81-D68217710CA1}"/>
              </a:ext>
            </a:extLst>
          </p:cNvPr>
          <p:cNvSpPr>
            <a:spLocks noGrp="1"/>
          </p:cNvSpPr>
          <p:nvPr>
            <p:ph type="title"/>
          </p:nvPr>
        </p:nvSpPr>
        <p:spPr>
          <a:xfrm>
            <a:off x="275336" y="-381341"/>
            <a:ext cx="5119624" cy="1899912"/>
          </a:xfrm>
        </p:spPr>
        <p:txBody>
          <a:bodyPr>
            <a:normAutofit/>
          </a:bodyPr>
          <a:lstStyle/>
          <a:p>
            <a:r>
              <a:rPr lang="es-CO" noProof="0" dirty="0">
                <a:solidFill>
                  <a:schemeClr val="accent1">
                    <a:lumMod val="50000"/>
                  </a:schemeClr>
                </a:solidFill>
                <a:latin typeface="Abadi" panose="020B0604020104020204" pitchFamily="34" charset="0"/>
              </a:rPr>
              <a:t>INTRODUCCIÓN</a:t>
            </a:r>
            <a:endParaRPr lang="es-CO" sz="4000" noProof="0" dirty="0">
              <a:solidFill>
                <a:schemeClr val="accent1">
                  <a:lumMod val="50000"/>
                </a:schemeClr>
              </a:solidFill>
              <a:latin typeface="Abadi" panose="020B0604020104020204" pitchFamily="34" charset="0"/>
            </a:endParaRPr>
          </a:p>
        </p:txBody>
      </p:sp>
      <p:sp>
        <p:nvSpPr>
          <p:cNvPr id="16" name="Rectangle 4">
            <a:extLst>
              <a:ext uri="{FF2B5EF4-FFF2-40B4-BE49-F238E27FC236}">
                <a16:creationId xmlns:a16="http://schemas.microsoft.com/office/drawing/2014/main" id="{4B078D77-C635-D965-D364-D3736676E2F6}"/>
              </a:ext>
            </a:extLst>
          </p:cNvPr>
          <p:cNvSpPr>
            <a:spLocks noGrp="1" noChangeArrowheads="1"/>
          </p:cNvSpPr>
          <p:nvPr>
            <p:ph idx="1"/>
          </p:nvPr>
        </p:nvSpPr>
        <p:spPr bwMode="auto">
          <a:xfrm>
            <a:off x="180204" y="1137230"/>
            <a:ext cx="4876428"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CO" sz="2000" b="1" i="0" u="none" strike="noStrike" cap="none" normalizeH="0" baseline="0" noProof="0" dirty="0">
                <a:ln>
                  <a:noFill/>
                </a:ln>
                <a:solidFill>
                  <a:schemeClr val="tx1"/>
                </a:solidFill>
                <a:effectLst/>
                <a:latin typeface="Abadi" panose="020B0604020104020204" pitchFamily="34" charset="0"/>
              </a:rPr>
              <a:t>MALFORMACIONES CONGÉNITAS</a:t>
            </a:r>
          </a:p>
          <a:p>
            <a:pPr marL="0" marR="0" lvl="0" indent="0" algn="l" defTabSz="914400" rtl="0" eaLnBrk="0" fontAlgn="base" latinLnBrk="0" hangingPunct="0">
              <a:lnSpc>
                <a:spcPct val="100000"/>
              </a:lnSpc>
              <a:spcBef>
                <a:spcPct val="0"/>
              </a:spcBef>
              <a:spcAft>
                <a:spcPct val="0"/>
              </a:spcAft>
              <a:buClrTx/>
              <a:buSzTx/>
              <a:buFontTx/>
              <a:buNone/>
              <a:tabLst/>
            </a:pPr>
            <a:r>
              <a:rPr kumimoji="0" lang="es-CO" sz="1600" b="0" i="0" u="none" strike="noStrike" cap="none" normalizeH="0" baseline="0" noProof="0" dirty="0">
                <a:ln>
                  <a:noFill/>
                </a:ln>
                <a:solidFill>
                  <a:schemeClr val="tx1"/>
                </a:solidFill>
                <a:effectLst/>
                <a:latin typeface="Abadi" panose="020B0604020104020204" pitchFamily="34" charset="0"/>
              </a:rPr>
              <a:t>Una malformación es un </a:t>
            </a:r>
            <a:r>
              <a:rPr kumimoji="0" lang="es-CO" sz="1600" b="0" i="0" u="none" strike="noStrike" cap="none" normalizeH="0" baseline="0" noProof="0" dirty="0">
                <a:ln>
                  <a:noFill/>
                </a:ln>
                <a:solidFill>
                  <a:schemeClr val="accent2">
                    <a:lumMod val="75000"/>
                  </a:schemeClr>
                </a:solidFill>
                <a:effectLst/>
                <a:latin typeface="Abadi" panose="020B0604020104020204" pitchFamily="34" charset="0"/>
              </a:rPr>
              <a:t>defecto estructural o funcional</a:t>
            </a:r>
            <a:r>
              <a:rPr kumimoji="0" lang="es-CO" sz="1600" b="0" i="0" u="none" strike="noStrike" cap="none" normalizeH="0" baseline="0" noProof="0" dirty="0">
                <a:ln>
                  <a:noFill/>
                </a:ln>
                <a:solidFill>
                  <a:schemeClr val="tx1"/>
                </a:solidFill>
                <a:effectLst/>
                <a:latin typeface="Abadi" panose="020B0604020104020204" pitchFamily="34" charset="0"/>
              </a:rPr>
              <a:t> en una parte del cuerpo, y cuando está presente desde el </a:t>
            </a:r>
            <a:r>
              <a:rPr kumimoji="0" lang="es-CO" sz="1600" b="0" i="0" u="none" strike="noStrike" cap="none" normalizeH="0" baseline="0" noProof="0" dirty="0">
                <a:ln>
                  <a:noFill/>
                </a:ln>
                <a:solidFill>
                  <a:schemeClr val="accent2">
                    <a:lumMod val="75000"/>
                  </a:schemeClr>
                </a:solidFill>
                <a:effectLst/>
                <a:latin typeface="Abadi" panose="020B0604020104020204" pitchFamily="34" charset="0"/>
              </a:rPr>
              <a:t>nacimiento</a:t>
            </a:r>
            <a:r>
              <a:rPr kumimoji="0" lang="es-CO" sz="1600" b="0" i="0" u="none" strike="noStrike" cap="none" normalizeH="0" baseline="0" noProof="0" dirty="0">
                <a:ln>
                  <a:noFill/>
                </a:ln>
                <a:solidFill>
                  <a:schemeClr val="tx1"/>
                </a:solidFill>
                <a:effectLst/>
                <a:latin typeface="Abadi" panose="020B0604020104020204" pitchFamily="34" charset="0"/>
              </a:rPr>
              <a:t> se denomina malformación congénita, término que significa “nacido junto con” o “innato”. Estas malformaciones surgen por alteraciones en el desarrollo embrionario y fetal, causadas por </a:t>
            </a:r>
            <a:r>
              <a:rPr kumimoji="0" lang="es-CO" sz="1600" b="0" i="0" u="none" strike="noStrike" cap="none" normalizeH="0" baseline="0" noProof="0" dirty="0">
                <a:ln>
                  <a:noFill/>
                </a:ln>
                <a:solidFill>
                  <a:schemeClr val="accent3">
                    <a:lumMod val="75000"/>
                  </a:schemeClr>
                </a:solidFill>
                <a:effectLst/>
                <a:latin typeface="Abadi" panose="020B0604020104020204" pitchFamily="34" charset="0"/>
              </a:rPr>
              <a:t>factores genéticos</a:t>
            </a:r>
            <a:r>
              <a:rPr kumimoji="0" lang="es-CO" sz="1600" b="0" i="0" u="none" strike="noStrike" cap="none" normalizeH="0" baseline="0" noProof="0" dirty="0">
                <a:ln>
                  <a:noFill/>
                </a:ln>
                <a:solidFill>
                  <a:schemeClr val="tx1"/>
                </a:solidFill>
                <a:effectLst/>
                <a:latin typeface="Abadi" panose="020B0604020104020204" pitchFamily="34" charset="0"/>
              </a:rPr>
              <a:t>, </a:t>
            </a:r>
            <a:r>
              <a:rPr kumimoji="0" lang="es-CO" sz="1600" b="0" i="0" u="none" strike="noStrike" cap="none" normalizeH="0" baseline="0" noProof="0" dirty="0">
                <a:ln>
                  <a:noFill/>
                </a:ln>
                <a:solidFill>
                  <a:schemeClr val="accent3">
                    <a:lumMod val="75000"/>
                  </a:schemeClr>
                </a:solidFill>
                <a:effectLst/>
                <a:latin typeface="Abadi" panose="020B0604020104020204" pitchFamily="34" charset="0"/>
              </a:rPr>
              <a:t>ambientales</a:t>
            </a:r>
            <a:r>
              <a:rPr kumimoji="0" lang="es-CO" sz="1600" b="0" i="0" u="none" strike="noStrike" cap="none" normalizeH="0" baseline="0" noProof="0" dirty="0">
                <a:ln>
                  <a:noFill/>
                </a:ln>
                <a:solidFill>
                  <a:schemeClr val="tx1"/>
                </a:solidFill>
                <a:effectLst/>
                <a:latin typeface="Abadi" panose="020B0604020104020204" pitchFamily="34" charset="0"/>
              </a:rPr>
              <a:t> o ambos, que afectan la formación de órganos y sistemas durante el embarazo. Comprender su etiología es fundamental para su prevención, diagnóstico y tratamiento.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sz="1800" b="0" i="0" u="none" strike="noStrike" cap="none" normalizeH="0" baseline="0" noProof="0" dirty="0">
              <a:ln>
                <a:noFill/>
              </a:ln>
              <a:solidFill>
                <a:schemeClr val="tx1"/>
              </a:solidFill>
              <a:effectLst/>
              <a:latin typeface="Arial" panose="020B0604020202020204" pitchFamily="34" charset="0"/>
            </a:endParaRPr>
          </a:p>
        </p:txBody>
      </p:sp>
      <p:pic>
        <p:nvPicPr>
          <p:cNvPr id="18" name="Picture 17" descr="A drawing of a human body&#10;&#10;AI-generated content may be incorrect.">
            <a:extLst>
              <a:ext uri="{FF2B5EF4-FFF2-40B4-BE49-F238E27FC236}">
                <a16:creationId xmlns:a16="http://schemas.microsoft.com/office/drawing/2014/main" id="{CC918B27-19B4-5836-3800-28DA59903E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1994" y="4361688"/>
            <a:ext cx="1919529" cy="2037655"/>
          </a:xfrm>
          <a:prstGeom prst="rect">
            <a:avLst/>
          </a:prstGeom>
        </p:spPr>
      </p:pic>
      <p:sp>
        <p:nvSpPr>
          <p:cNvPr id="19" name="TextBox 18">
            <a:extLst>
              <a:ext uri="{FF2B5EF4-FFF2-40B4-BE49-F238E27FC236}">
                <a16:creationId xmlns:a16="http://schemas.microsoft.com/office/drawing/2014/main" id="{244127D5-01CB-FB13-C4CA-F017C782B6A2}"/>
              </a:ext>
            </a:extLst>
          </p:cNvPr>
          <p:cNvSpPr txBox="1"/>
          <p:nvPr/>
        </p:nvSpPr>
        <p:spPr>
          <a:xfrm>
            <a:off x="9199524" y="1518571"/>
            <a:ext cx="2551176" cy="4247317"/>
          </a:xfrm>
          <a:prstGeom prst="rect">
            <a:avLst/>
          </a:prstGeom>
          <a:noFill/>
        </p:spPr>
        <p:txBody>
          <a:bodyPr wrap="square" rtlCol="0">
            <a:spAutoFit/>
          </a:bodyPr>
          <a:lstStyle/>
          <a:p>
            <a:pPr algn="ctr"/>
            <a:r>
              <a:rPr lang="en-US" b="1" dirty="0" err="1">
                <a:solidFill>
                  <a:schemeClr val="bg1"/>
                </a:solidFill>
                <a:latin typeface="Abadi" panose="020B0604020104020204" pitchFamily="34" charset="0"/>
              </a:rPr>
              <a:t>Polidactilia</a:t>
            </a:r>
            <a:endParaRPr lang="en-US" b="1" dirty="0">
              <a:solidFill>
                <a:schemeClr val="bg1"/>
              </a:solidFill>
              <a:latin typeface="Abadi" panose="020B0604020104020204" pitchFamily="34" charset="0"/>
            </a:endParaRPr>
          </a:p>
          <a:p>
            <a:pPr algn="ctr"/>
            <a:endParaRPr lang="en-US" b="1" dirty="0">
              <a:solidFill>
                <a:schemeClr val="bg1"/>
              </a:solidFill>
              <a:latin typeface="Abadi" panose="020B0604020104020204" pitchFamily="34" charset="0"/>
            </a:endParaRPr>
          </a:p>
          <a:p>
            <a:pPr algn="ctr"/>
            <a:r>
              <a:rPr lang="en-US" b="1" dirty="0" err="1">
                <a:solidFill>
                  <a:schemeClr val="bg1"/>
                </a:solidFill>
                <a:latin typeface="Abadi" panose="020B0604020104020204" pitchFamily="34" charset="0"/>
              </a:rPr>
              <a:t>Sindactilia</a:t>
            </a:r>
            <a:endParaRPr lang="en-US" b="1" dirty="0">
              <a:solidFill>
                <a:schemeClr val="bg1"/>
              </a:solidFill>
              <a:latin typeface="Abadi" panose="020B0604020104020204" pitchFamily="34" charset="0"/>
            </a:endParaRPr>
          </a:p>
          <a:p>
            <a:pPr algn="ctr"/>
            <a:endParaRPr lang="en-US" b="1" dirty="0">
              <a:solidFill>
                <a:schemeClr val="bg1"/>
              </a:solidFill>
              <a:latin typeface="Abadi" panose="020B0604020104020204" pitchFamily="34" charset="0"/>
            </a:endParaRPr>
          </a:p>
          <a:p>
            <a:pPr algn="ctr"/>
            <a:r>
              <a:rPr lang="en-US" b="1" dirty="0">
                <a:solidFill>
                  <a:schemeClr val="bg1"/>
                </a:solidFill>
                <a:latin typeface="Abadi" panose="020B0604020104020204" pitchFamily="34" charset="0"/>
              </a:rPr>
              <a:t>Labio </a:t>
            </a:r>
            <a:r>
              <a:rPr lang="en-US" b="1" dirty="0" err="1">
                <a:solidFill>
                  <a:schemeClr val="bg1"/>
                </a:solidFill>
                <a:latin typeface="Abadi" panose="020B0604020104020204" pitchFamily="34" charset="0"/>
              </a:rPr>
              <a:t>leporino</a:t>
            </a:r>
            <a:endParaRPr lang="en-US" b="1" dirty="0">
              <a:solidFill>
                <a:schemeClr val="bg1"/>
              </a:solidFill>
              <a:latin typeface="Abadi" panose="020B0604020104020204" pitchFamily="34" charset="0"/>
            </a:endParaRPr>
          </a:p>
          <a:p>
            <a:pPr algn="ctr"/>
            <a:endParaRPr lang="en-US" b="1" dirty="0">
              <a:solidFill>
                <a:schemeClr val="bg1"/>
              </a:solidFill>
              <a:latin typeface="Abadi" panose="020B0604020104020204" pitchFamily="34" charset="0"/>
            </a:endParaRPr>
          </a:p>
          <a:p>
            <a:pPr algn="ctr"/>
            <a:r>
              <a:rPr lang="en-US" b="1" dirty="0">
                <a:solidFill>
                  <a:schemeClr val="bg1"/>
                </a:solidFill>
                <a:latin typeface="Abadi" panose="020B0604020104020204" pitchFamily="34" charset="0"/>
              </a:rPr>
              <a:t>Paladar </a:t>
            </a:r>
            <a:r>
              <a:rPr lang="en-US" b="1" dirty="0" err="1">
                <a:solidFill>
                  <a:schemeClr val="bg1"/>
                </a:solidFill>
                <a:latin typeface="Abadi" panose="020B0604020104020204" pitchFamily="34" charset="0"/>
              </a:rPr>
              <a:t>hendido</a:t>
            </a:r>
            <a:endParaRPr lang="en-US" b="1" dirty="0">
              <a:solidFill>
                <a:schemeClr val="bg1"/>
              </a:solidFill>
              <a:latin typeface="Abadi" panose="020B0604020104020204" pitchFamily="34" charset="0"/>
            </a:endParaRPr>
          </a:p>
          <a:p>
            <a:pPr algn="ctr"/>
            <a:endParaRPr lang="en-US" b="1" dirty="0">
              <a:solidFill>
                <a:schemeClr val="bg1"/>
              </a:solidFill>
              <a:latin typeface="Abadi" panose="020B0604020104020204" pitchFamily="34" charset="0"/>
            </a:endParaRPr>
          </a:p>
          <a:p>
            <a:pPr algn="ctr"/>
            <a:r>
              <a:rPr lang="en-US" b="1" dirty="0" err="1">
                <a:solidFill>
                  <a:schemeClr val="bg1"/>
                </a:solidFill>
                <a:latin typeface="Abadi" panose="020B0604020104020204" pitchFamily="34" charset="0"/>
              </a:rPr>
              <a:t>Síndrome</a:t>
            </a:r>
            <a:r>
              <a:rPr lang="en-US" b="1" dirty="0">
                <a:solidFill>
                  <a:schemeClr val="bg1"/>
                </a:solidFill>
                <a:latin typeface="Abadi" panose="020B0604020104020204" pitchFamily="34" charset="0"/>
              </a:rPr>
              <a:t> de Down</a:t>
            </a:r>
          </a:p>
          <a:p>
            <a:pPr algn="ctr"/>
            <a:endParaRPr lang="en-US" b="1" dirty="0">
              <a:solidFill>
                <a:schemeClr val="bg1"/>
              </a:solidFill>
              <a:latin typeface="Abadi" panose="020B0604020104020204" pitchFamily="34" charset="0"/>
            </a:endParaRPr>
          </a:p>
          <a:p>
            <a:pPr algn="ctr"/>
            <a:r>
              <a:rPr lang="en-US" b="1" dirty="0" err="1">
                <a:solidFill>
                  <a:schemeClr val="bg1"/>
                </a:solidFill>
                <a:latin typeface="Abadi" panose="020B0604020104020204" pitchFamily="34" charset="0"/>
              </a:rPr>
              <a:t>Anencefalia</a:t>
            </a:r>
            <a:endParaRPr lang="en-US" b="1" dirty="0">
              <a:solidFill>
                <a:schemeClr val="bg1"/>
              </a:solidFill>
              <a:latin typeface="Abadi" panose="020B0604020104020204" pitchFamily="34" charset="0"/>
            </a:endParaRPr>
          </a:p>
          <a:p>
            <a:pPr algn="ctr"/>
            <a:endParaRPr lang="en-US" b="1" dirty="0">
              <a:solidFill>
                <a:schemeClr val="bg1"/>
              </a:solidFill>
              <a:latin typeface="Abadi" panose="020B0604020104020204" pitchFamily="34" charset="0"/>
            </a:endParaRPr>
          </a:p>
          <a:p>
            <a:pPr algn="ctr"/>
            <a:r>
              <a:rPr lang="en-US" b="1" dirty="0" err="1">
                <a:solidFill>
                  <a:schemeClr val="bg1"/>
                </a:solidFill>
                <a:latin typeface="Abadi" panose="020B0604020104020204" pitchFamily="34" charset="0"/>
              </a:rPr>
              <a:t>Cardiopatías</a:t>
            </a:r>
            <a:r>
              <a:rPr lang="en-US" b="1" dirty="0">
                <a:solidFill>
                  <a:schemeClr val="bg1"/>
                </a:solidFill>
                <a:latin typeface="Abadi" panose="020B0604020104020204" pitchFamily="34" charset="0"/>
              </a:rPr>
              <a:t> </a:t>
            </a:r>
            <a:r>
              <a:rPr lang="en-US" b="1" dirty="0" err="1">
                <a:solidFill>
                  <a:schemeClr val="bg1"/>
                </a:solidFill>
                <a:latin typeface="Abadi" panose="020B0604020104020204" pitchFamily="34" charset="0"/>
              </a:rPr>
              <a:t>congénitas</a:t>
            </a:r>
            <a:endParaRPr lang="en-US" b="1" dirty="0">
              <a:solidFill>
                <a:schemeClr val="bg1"/>
              </a:solidFill>
              <a:latin typeface="Abadi" panose="020B0604020104020204" pitchFamily="34" charset="0"/>
            </a:endParaRPr>
          </a:p>
          <a:p>
            <a:pPr algn="ctr"/>
            <a:endParaRPr lang="en-US" b="1" dirty="0">
              <a:solidFill>
                <a:schemeClr val="bg1"/>
              </a:solidFill>
              <a:latin typeface="Abadi" panose="020B0604020104020204" pitchFamily="34" charset="0"/>
            </a:endParaRPr>
          </a:p>
          <a:p>
            <a:pPr algn="ctr"/>
            <a:r>
              <a:rPr lang="en-US" b="1" dirty="0">
                <a:solidFill>
                  <a:schemeClr val="bg1"/>
                </a:solidFill>
              </a:rPr>
              <a:t>Espina </a:t>
            </a:r>
            <a:r>
              <a:rPr lang="en-US" b="1" dirty="0" err="1">
                <a:solidFill>
                  <a:schemeClr val="bg1"/>
                </a:solidFill>
              </a:rPr>
              <a:t>bífida</a:t>
            </a:r>
            <a:endParaRPr lang="en-US" b="1" dirty="0">
              <a:solidFill>
                <a:schemeClr val="bg1"/>
              </a:solidFill>
              <a:latin typeface="Abadi" panose="020B0604020104020204" pitchFamily="34" charset="0"/>
            </a:endParaRPr>
          </a:p>
        </p:txBody>
      </p:sp>
      <p:cxnSp>
        <p:nvCxnSpPr>
          <p:cNvPr id="23" name="Straight Connector 22">
            <a:extLst>
              <a:ext uri="{FF2B5EF4-FFF2-40B4-BE49-F238E27FC236}">
                <a16:creationId xmlns:a16="http://schemas.microsoft.com/office/drawing/2014/main" id="{6788EF40-E9C8-3AE9-BF6B-490B474A9DC3}"/>
              </a:ext>
            </a:extLst>
          </p:cNvPr>
          <p:cNvCxnSpPr/>
          <p:nvPr/>
        </p:nvCxnSpPr>
        <p:spPr>
          <a:xfrm>
            <a:off x="180204" y="886968"/>
            <a:ext cx="4382652" cy="0"/>
          </a:xfrm>
          <a:prstGeom prst="line">
            <a:avLst/>
          </a:prstGeom>
          <a:ln w="381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4618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B63FFF4-DF62-9895-9C6B-297E4D265B29}"/>
            </a:ext>
          </a:extLst>
        </p:cNvPr>
        <p:cNvGrpSpPr/>
        <p:nvPr/>
      </p:nvGrpSpPr>
      <p:grpSpPr>
        <a:xfrm>
          <a:off x="0" y="0"/>
          <a:ext cx="0" cy="0"/>
          <a:chOff x="0" y="0"/>
          <a:chExt cx="0" cy="0"/>
        </a:xfrm>
      </p:grpSpPr>
      <p:sp>
        <p:nvSpPr>
          <p:cNvPr id="6" name="Content Placeholder 4">
            <a:extLst>
              <a:ext uri="{FF2B5EF4-FFF2-40B4-BE49-F238E27FC236}">
                <a16:creationId xmlns:a16="http://schemas.microsoft.com/office/drawing/2014/main" id="{E01E0A05-BD7D-0F69-7DA7-5337882E449E}"/>
              </a:ext>
            </a:extLst>
          </p:cNvPr>
          <p:cNvSpPr txBox="1">
            <a:spLocks/>
          </p:cNvSpPr>
          <p:nvPr/>
        </p:nvSpPr>
        <p:spPr>
          <a:xfrm>
            <a:off x="598932" y="196392"/>
            <a:ext cx="10812780" cy="19341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s-CO" sz="2000" b="1" noProof="0" dirty="0">
                <a:latin typeface="Abadi" panose="020B0604020104020204" pitchFamily="34" charset="0"/>
              </a:rPr>
              <a:t>ECLAMC</a:t>
            </a:r>
          </a:p>
          <a:p>
            <a:pPr marL="0" indent="0" algn="just">
              <a:buNone/>
            </a:pPr>
            <a:r>
              <a:rPr lang="es-CO" sz="1600" noProof="0" dirty="0">
                <a:latin typeface="Abadi" panose="020B0604020104020204" pitchFamily="34" charset="0"/>
              </a:rPr>
              <a:t>El </a:t>
            </a:r>
            <a:r>
              <a:rPr lang="es-CO" sz="1600" b="1" noProof="0" dirty="0">
                <a:latin typeface="Abadi" panose="020B0604020104020204" pitchFamily="34" charset="0"/>
              </a:rPr>
              <a:t>Estudio Colaborativo Latinoamericano de Malformaciones Congénitas (ECLAMC)</a:t>
            </a:r>
            <a:r>
              <a:rPr lang="es-CO" sz="1600" noProof="0" dirty="0">
                <a:latin typeface="Abadi" panose="020B0604020104020204" pitchFamily="34" charset="0"/>
              </a:rPr>
              <a:t> fue creado por el Profesor Dr. Eduardo Castilla como un programa de investigación clínica y epidemiológica enfocado en identificar factores de riesgo asociados con la etiología de las anomalías congénitas en hospitales de América Latina. Inició en 1967 en Buenos Aires, Argentina, y con el tiempo se expandió para incluir a diez países de la región. Su objetivo principal es prevenir y comprender mejor las malformaciones congénitas a través de la recolección sistemática de datos y análisis </a:t>
            </a:r>
            <a:r>
              <a:rPr lang="es-CO" sz="1600" dirty="0">
                <a:latin typeface="Abadi" panose="020B0604020104020204" pitchFamily="34" charset="0"/>
              </a:rPr>
              <a:t>clínicos (Nazer, 2011). </a:t>
            </a:r>
            <a:endParaRPr lang="es-CO" sz="1600" noProof="0" dirty="0">
              <a:latin typeface="Abadi" panose="020B0604020104020204" pitchFamily="34" charset="0"/>
            </a:endParaRPr>
          </a:p>
          <a:p>
            <a:pPr marL="0" indent="0">
              <a:buNone/>
            </a:pPr>
            <a:endParaRPr lang="es-CO" sz="2900" noProof="0" dirty="0">
              <a:latin typeface="Abadi" panose="020B0604020104020204" pitchFamily="34" charset="0"/>
            </a:endParaRPr>
          </a:p>
          <a:p>
            <a:pPr marL="0" indent="0">
              <a:buFont typeface="Arial" panose="020B0604020202020204" pitchFamily="34" charset="0"/>
              <a:buNone/>
            </a:pPr>
            <a:endParaRPr lang="es-CO" sz="2400" noProof="0" dirty="0">
              <a:latin typeface="Abadi" panose="020B0604020104020204" pitchFamily="34" charset="0"/>
            </a:endParaRPr>
          </a:p>
          <a:p>
            <a:pPr marL="0" indent="0">
              <a:buFont typeface="Arial" panose="020B0604020202020204" pitchFamily="34" charset="0"/>
              <a:buNone/>
            </a:pPr>
            <a:endParaRPr lang="es-CO" sz="2400" noProof="0" dirty="0">
              <a:latin typeface="Abadi" panose="020B0604020104020204" pitchFamily="34" charset="0"/>
            </a:endParaRPr>
          </a:p>
        </p:txBody>
      </p:sp>
      <p:pic>
        <p:nvPicPr>
          <p:cNvPr id="7" name="Picture 6">
            <a:extLst>
              <a:ext uri="{FF2B5EF4-FFF2-40B4-BE49-F238E27FC236}">
                <a16:creationId xmlns:a16="http://schemas.microsoft.com/office/drawing/2014/main" id="{8BC52B7A-762E-0CA8-C451-BF968990F5BD}"/>
              </a:ext>
            </a:extLst>
          </p:cNvPr>
          <p:cNvPicPr>
            <a:picLocks noChangeAspect="1"/>
          </p:cNvPicPr>
          <p:nvPr/>
        </p:nvPicPr>
        <p:blipFill>
          <a:blip r:embed="rId2"/>
          <a:stretch>
            <a:fillRect/>
          </a:stretch>
        </p:blipFill>
        <p:spPr>
          <a:xfrm>
            <a:off x="3787140" y="2018987"/>
            <a:ext cx="3925824" cy="4278941"/>
          </a:xfrm>
          <a:prstGeom prst="rect">
            <a:avLst/>
          </a:prstGeom>
        </p:spPr>
      </p:pic>
      <p:sp>
        <p:nvSpPr>
          <p:cNvPr id="9" name="TextBox 8">
            <a:extLst>
              <a:ext uri="{FF2B5EF4-FFF2-40B4-BE49-F238E27FC236}">
                <a16:creationId xmlns:a16="http://schemas.microsoft.com/office/drawing/2014/main" id="{2082E72A-A2D6-655F-ED5C-73F15F859CED}"/>
              </a:ext>
            </a:extLst>
          </p:cNvPr>
          <p:cNvSpPr txBox="1"/>
          <p:nvPr/>
        </p:nvSpPr>
        <p:spPr>
          <a:xfrm>
            <a:off x="2238374" y="6297928"/>
            <a:ext cx="7975473" cy="461665"/>
          </a:xfrm>
          <a:prstGeom prst="rect">
            <a:avLst/>
          </a:prstGeom>
          <a:noFill/>
        </p:spPr>
        <p:txBody>
          <a:bodyPr wrap="square">
            <a:spAutoFit/>
          </a:bodyPr>
          <a:lstStyle/>
          <a:p>
            <a:pPr algn="just"/>
            <a:r>
              <a:rPr lang="es-CO" sz="1200" noProof="0" dirty="0"/>
              <a:t>La red de hospitales ECLAMC en Sudamérica, con profesionales de 211 hospitales en 12 países, ha registrado 153,085 bebés con malformaciones en 5,282,140 nacimientos consecutivos entre 1967 y 2012 </a:t>
            </a:r>
            <a:r>
              <a:rPr lang="es-CO" sz="1200" dirty="0">
                <a:latin typeface="Abadi" panose="020B0604020104020204" pitchFamily="34" charset="0"/>
              </a:rPr>
              <a:t>(</a:t>
            </a:r>
            <a:r>
              <a:rPr lang="es-CO" sz="1200" dirty="0" err="1">
                <a:latin typeface="Abadi" panose="020B0604020104020204" pitchFamily="34" charset="0"/>
              </a:rPr>
              <a:t>Poletta</a:t>
            </a:r>
            <a:r>
              <a:rPr lang="es-CO" sz="1200" dirty="0">
                <a:latin typeface="Abadi" panose="020B0604020104020204" pitchFamily="34" charset="0"/>
              </a:rPr>
              <a:t> et al., 2014)</a:t>
            </a:r>
            <a:r>
              <a:rPr lang="es-CO" sz="1200" noProof="0" dirty="0"/>
              <a:t>.</a:t>
            </a:r>
          </a:p>
        </p:txBody>
      </p:sp>
    </p:spTree>
    <p:extLst>
      <p:ext uri="{BB962C8B-B14F-4D97-AF65-F5344CB8AC3E}">
        <p14:creationId xmlns:p14="http://schemas.microsoft.com/office/powerpoint/2010/main" val="2231837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C2FBC9-BDB4-DEFD-A508-3831FD7DD84F}"/>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pic>
        <p:nvPicPr>
          <p:cNvPr id="10" name="Picture 9" descr="A map of south america&#10;&#10;AI-generated content may be incorrect.">
            <a:extLst>
              <a:ext uri="{FF2B5EF4-FFF2-40B4-BE49-F238E27FC236}">
                <a16:creationId xmlns:a16="http://schemas.microsoft.com/office/drawing/2014/main" id="{5C7144D0-F38C-1BC0-1ABC-F62DAA43F910}"/>
              </a:ext>
            </a:extLst>
          </p:cNvPr>
          <p:cNvPicPr>
            <a:picLocks noChangeAspect="1"/>
          </p:cNvPicPr>
          <p:nvPr/>
        </p:nvPicPr>
        <p:blipFill>
          <a:blip r:embed="rId2">
            <a:extLst>
              <a:ext uri="{28A0092B-C50C-407E-A947-70E740481C1C}">
                <a14:useLocalDpi xmlns:a14="http://schemas.microsoft.com/office/drawing/2010/main" val="0"/>
              </a:ext>
            </a:extLst>
          </a:blip>
          <a:srcRect r="1" b="37411"/>
          <a:stretch>
            <a:fillRect/>
          </a:stretch>
        </p:blipFill>
        <p:spPr>
          <a:xfrm>
            <a:off x="1" y="10"/>
            <a:ext cx="9669642" cy="6857990"/>
          </a:xfrm>
          <a:prstGeom prst="rect">
            <a:avLst/>
          </a:prstGeom>
        </p:spPr>
      </p:pic>
      <p:sp>
        <p:nvSpPr>
          <p:cNvPr id="17" name="Rectangle 16">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6" name="Content Placeholder 4">
            <a:extLst>
              <a:ext uri="{FF2B5EF4-FFF2-40B4-BE49-F238E27FC236}">
                <a16:creationId xmlns:a16="http://schemas.microsoft.com/office/drawing/2014/main" id="{EB705D07-CC31-1362-FCBF-C10A6518BB6A}"/>
              </a:ext>
            </a:extLst>
          </p:cNvPr>
          <p:cNvSpPr txBox="1">
            <a:spLocks/>
          </p:cNvSpPr>
          <p:nvPr/>
        </p:nvSpPr>
        <p:spPr>
          <a:xfrm>
            <a:off x="7736935" y="-36576"/>
            <a:ext cx="3822189" cy="3742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endParaRPr lang="es-CO" sz="1300" b="1" noProof="0" dirty="0"/>
          </a:p>
          <a:p>
            <a:pPr marL="0" indent="0" algn="ctr">
              <a:buNone/>
            </a:pPr>
            <a:r>
              <a:rPr lang="es-CO" sz="2000" b="1" noProof="0" dirty="0">
                <a:latin typeface="Abadi" panose="020B0604020104020204" pitchFamily="34" charset="0"/>
              </a:rPr>
              <a:t>ECLAMC</a:t>
            </a:r>
            <a:endParaRPr lang="es-CO" sz="1600" b="1" noProof="0" dirty="0">
              <a:latin typeface="Abadi" panose="020B0604020104020204" pitchFamily="34" charset="0"/>
            </a:endParaRPr>
          </a:p>
          <a:p>
            <a:pPr marL="0"/>
            <a:r>
              <a:rPr lang="es-CO" sz="1600" noProof="0" dirty="0">
                <a:latin typeface="Abadi" panose="020B0604020104020204" pitchFamily="34" charset="0"/>
              </a:rPr>
              <a:t>ECLAMC opera mediante una </a:t>
            </a:r>
            <a:r>
              <a:rPr lang="es-CO" sz="1600" noProof="0" dirty="0">
                <a:solidFill>
                  <a:srgbClr val="FF0000"/>
                </a:solidFill>
                <a:latin typeface="Abadi" panose="020B0604020104020204" pitchFamily="34" charset="0"/>
              </a:rPr>
              <a:t>red</a:t>
            </a:r>
            <a:r>
              <a:rPr lang="es-CO" sz="1600" noProof="0" dirty="0">
                <a:latin typeface="Abadi" panose="020B0604020104020204" pitchFamily="34" charset="0"/>
              </a:rPr>
              <a:t> de profesionales de salud dedicados a la vigilancia epidemiológica y prevención de malformaciones congénitas. </a:t>
            </a:r>
          </a:p>
          <a:p>
            <a:pPr marL="0"/>
            <a:r>
              <a:rPr lang="es-CO" sz="1600" noProof="0" dirty="0">
                <a:latin typeface="Abadi" panose="020B0604020104020204" pitchFamily="34" charset="0"/>
              </a:rPr>
              <a:t>Todas las anomalías diagnosticadas al nacer se </a:t>
            </a:r>
            <a:r>
              <a:rPr lang="es-CO" sz="1600" noProof="0" dirty="0">
                <a:solidFill>
                  <a:srgbClr val="FF0000"/>
                </a:solidFill>
                <a:latin typeface="Abadi" panose="020B0604020104020204" pitchFamily="34" charset="0"/>
              </a:rPr>
              <a:t>registran</a:t>
            </a:r>
            <a:r>
              <a:rPr lang="es-CO" sz="1600" noProof="0" dirty="0">
                <a:latin typeface="Abadi" panose="020B0604020104020204" pitchFamily="34" charset="0"/>
              </a:rPr>
              <a:t> siguiendo definiciones claras y específicas establecidas en un manual de procedimientos estandarizado (</a:t>
            </a:r>
            <a:r>
              <a:rPr lang="es-CO" sz="1600" noProof="0" dirty="0" err="1">
                <a:latin typeface="Abadi" panose="020B0604020104020204" pitchFamily="34" charset="0"/>
              </a:rPr>
              <a:t>Poletta</a:t>
            </a:r>
            <a:r>
              <a:rPr lang="es-CO" sz="1600" noProof="0" dirty="0">
                <a:latin typeface="Abadi" panose="020B0604020104020204" pitchFamily="34" charset="0"/>
              </a:rPr>
              <a:t>, Gili, &amp; Castilla, 2014).</a:t>
            </a:r>
          </a:p>
          <a:p>
            <a:pPr marL="0"/>
            <a:endParaRPr lang="es-CO" sz="1300" noProof="0" dirty="0"/>
          </a:p>
          <a:p>
            <a:pPr marL="0"/>
            <a:endParaRPr lang="es-CO" sz="1300" noProof="0" dirty="0"/>
          </a:p>
        </p:txBody>
      </p:sp>
      <p:pic>
        <p:nvPicPr>
          <p:cNvPr id="11" name="Content Placeholder 4" descr="A close-up of a document&#10;&#10;AI-generated content may be incorrect.">
            <a:extLst>
              <a:ext uri="{FF2B5EF4-FFF2-40B4-BE49-F238E27FC236}">
                <a16:creationId xmlns:a16="http://schemas.microsoft.com/office/drawing/2014/main" id="{84D9673C-87BE-E4CE-BFD9-CF8E82CDBF4B}"/>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3793" t="2837" r="3227" b="8698"/>
          <a:stretch>
            <a:fillRect/>
          </a:stretch>
        </p:blipFill>
        <p:spPr>
          <a:xfrm>
            <a:off x="817316" y="249801"/>
            <a:ext cx="4281212" cy="6461354"/>
          </a:xfrm>
        </p:spPr>
      </p:pic>
      <p:sp>
        <p:nvSpPr>
          <p:cNvPr id="12" name="Content Placeholder 4">
            <a:extLst>
              <a:ext uri="{FF2B5EF4-FFF2-40B4-BE49-F238E27FC236}">
                <a16:creationId xmlns:a16="http://schemas.microsoft.com/office/drawing/2014/main" id="{547FE61D-C605-B27B-DF5F-1270D71E4BDA}"/>
              </a:ext>
            </a:extLst>
          </p:cNvPr>
          <p:cNvSpPr txBox="1">
            <a:spLocks/>
          </p:cNvSpPr>
          <p:nvPr/>
        </p:nvSpPr>
        <p:spPr>
          <a:xfrm>
            <a:off x="5672022" y="3026664"/>
            <a:ext cx="5257275" cy="27677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s-CO" sz="1600" b="1" noProof="0" dirty="0">
              <a:latin typeface="Abadi" panose="020B0604020104020204" pitchFamily="34" charset="0"/>
            </a:endParaRPr>
          </a:p>
          <a:p>
            <a:pPr marL="0" indent="0" algn="ctr">
              <a:buNone/>
            </a:pPr>
            <a:r>
              <a:rPr lang="es-CO" sz="2000" b="1" noProof="0" dirty="0">
                <a:latin typeface="Abadi" panose="020B0604020104020204" pitchFamily="34" charset="0"/>
              </a:rPr>
              <a:t>Método de recolección de datos: </a:t>
            </a:r>
          </a:p>
          <a:p>
            <a:pPr marL="0" indent="0" algn="ctr">
              <a:buNone/>
            </a:pPr>
            <a:r>
              <a:rPr lang="es-CO" sz="2000" b="1" noProof="0" dirty="0">
                <a:latin typeface="Abadi" panose="020B0604020104020204" pitchFamily="34" charset="0"/>
              </a:rPr>
              <a:t>casos y controles</a:t>
            </a:r>
          </a:p>
          <a:p>
            <a:r>
              <a:rPr lang="es-CO" sz="1600" noProof="0" dirty="0">
                <a:latin typeface="Abadi" panose="020B0604020104020204" pitchFamily="34" charset="0"/>
              </a:rPr>
              <a:t>El estudio utiliza una metodología de </a:t>
            </a:r>
            <a:r>
              <a:rPr lang="es-CO" sz="1600" noProof="0" dirty="0">
                <a:solidFill>
                  <a:srgbClr val="FF0000"/>
                </a:solidFill>
                <a:latin typeface="Abadi" panose="020B0604020104020204" pitchFamily="34" charset="0"/>
              </a:rPr>
              <a:t>casos y controles </a:t>
            </a:r>
            <a:r>
              <a:rPr lang="es-CO" sz="1600" noProof="0" dirty="0">
                <a:latin typeface="Abadi" panose="020B0604020104020204" pitchFamily="34" charset="0"/>
              </a:rPr>
              <a:t>donde médicos capacitados examinan diariamente a todos los recién nacidos; cuando se detecta una malformación, se registra información materna y del bebé, junto con una fotografía, y como control se selecciona al siguiente recién nacido sano del mismo sexo y hospital. Se obtiene consentimiento informado de los padres, incluyendo recién nacidos vivos de cualquier peso y nacidos muertos con peso igual o superior a 500 gramos (Zarate et al., 2016).</a:t>
            </a:r>
          </a:p>
        </p:txBody>
      </p:sp>
    </p:spTree>
    <p:extLst>
      <p:ext uri="{BB962C8B-B14F-4D97-AF65-F5344CB8AC3E}">
        <p14:creationId xmlns:p14="http://schemas.microsoft.com/office/powerpoint/2010/main" val="3961304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AFB6525A-6788-A4DE-76C3-D3C5F405BF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E29EE-1B3F-5667-02BD-860B8DF5B2DD}"/>
              </a:ext>
            </a:extLst>
          </p:cNvPr>
          <p:cNvSpPr>
            <a:spLocks noGrp="1"/>
          </p:cNvSpPr>
          <p:nvPr>
            <p:ph type="title"/>
          </p:nvPr>
        </p:nvSpPr>
        <p:spPr>
          <a:xfrm>
            <a:off x="838200" y="109093"/>
            <a:ext cx="10515600" cy="1325563"/>
          </a:xfrm>
        </p:spPr>
        <p:txBody>
          <a:bodyPr/>
          <a:lstStyle/>
          <a:p>
            <a:pPr algn="ctr"/>
            <a:r>
              <a:rPr lang="es-CO" noProof="0" dirty="0">
                <a:solidFill>
                  <a:schemeClr val="accent1">
                    <a:lumMod val="50000"/>
                  </a:schemeClr>
                </a:solidFill>
                <a:latin typeface="Abadi" panose="020B0604020104020204" pitchFamily="34" charset="0"/>
              </a:rPr>
              <a:t>JUSTIFICACIÓN DEL PROBLEMA</a:t>
            </a:r>
          </a:p>
        </p:txBody>
      </p:sp>
      <p:sp>
        <p:nvSpPr>
          <p:cNvPr id="3" name="Content Placeholder 2">
            <a:extLst>
              <a:ext uri="{FF2B5EF4-FFF2-40B4-BE49-F238E27FC236}">
                <a16:creationId xmlns:a16="http://schemas.microsoft.com/office/drawing/2014/main" id="{2ECEA7AE-136C-166D-F392-D6186D8705D9}"/>
              </a:ext>
            </a:extLst>
          </p:cNvPr>
          <p:cNvSpPr>
            <a:spLocks noGrp="1"/>
          </p:cNvSpPr>
          <p:nvPr>
            <p:ph idx="1"/>
          </p:nvPr>
        </p:nvSpPr>
        <p:spPr/>
        <p:txBody>
          <a:bodyPr>
            <a:normAutofit/>
          </a:bodyPr>
          <a:lstStyle/>
          <a:p>
            <a:pPr marL="0" indent="0">
              <a:buNone/>
            </a:pPr>
            <a:r>
              <a:rPr lang="es-ES" sz="1800" dirty="0">
                <a:latin typeface="Abadi" panose="020B0604020104020204" pitchFamily="34" charset="0"/>
              </a:rPr>
              <a:t>En Colombia, según el Departamento Administrativo Nacional de Estadística (DANE), las malformaciones congénitas fueron la segunda causa de mortalidad en menores de un año durante 2009, con una tasa de 2,95 muertes por cada 1000 nacidos vivos. Sin embargo, </a:t>
            </a:r>
            <a:r>
              <a:rPr lang="es-ES" sz="1800" dirty="0">
                <a:solidFill>
                  <a:srgbClr val="C00000"/>
                </a:solidFill>
                <a:latin typeface="Abadi" panose="020B0604020104020204" pitchFamily="34" charset="0"/>
              </a:rPr>
              <a:t>la etiología de la mayoría de estas malformaciones aún no se ha determinado con precisión</a:t>
            </a:r>
            <a:r>
              <a:rPr lang="es-ES" sz="1800" dirty="0">
                <a:latin typeface="Abadi" panose="020B0604020104020204" pitchFamily="34" charset="0"/>
              </a:rPr>
              <a:t>, lo que dificulta la implementación de estrategias efectivas para su prevención y diagnóstico oportuno (Zarate, García, &amp; </a:t>
            </a:r>
            <a:r>
              <a:rPr lang="es-ES" sz="1800" dirty="0" err="1">
                <a:latin typeface="Abadi" panose="020B0604020104020204" pitchFamily="34" charset="0"/>
              </a:rPr>
              <a:t>Zarante</a:t>
            </a:r>
            <a:r>
              <a:rPr lang="es-ES" sz="1800" dirty="0">
                <a:latin typeface="Abadi" panose="020B0604020104020204" pitchFamily="34" charset="0"/>
              </a:rPr>
              <a:t>, 2016). </a:t>
            </a:r>
          </a:p>
          <a:p>
            <a:pPr marL="0" indent="0">
              <a:buNone/>
            </a:pPr>
            <a:endParaRPr lang="es-ES" sz="1800" dirty="0">
              <a:latin typeface="Abadi" panose="020B0604020104020204" pitchFamily="34" charset="0"/>
            </a:endParaRPr>
          </a:p>
          <a:p>
            <a:pPr marL="0" indent="0">
              <a:buNone/>
            </a:pPr>
            <a:r>
              <a:rPr lang="es-ES" sz="1800" dirty="0">
                <a:latin typeface="Abadi" panose="020B0604020104020204" pitchFamily="34" charset="0"/>
              </a:rPr>
              <a:t>Para abordar esta problemática, el Estudio Colaborativo Latinoamericano de Malformaciones Congénitas (ECLAMC) recopila datos extensos y variados, que incluyen factores genéticos, ambientales y demográficos. </a:t>
            </a:r>
            <a:r>
              <a:rPr lang="es-ES" sz="1800" dirty="0">
                <a:solidFill>
                  <a:srgbClr val="C00000"/>
                </a:solidFill>
                <a:latin typeface="Abadi" panose="020B0604020104020204" pitchFamily="34" charset="0"/>
              </a:rPr>
              <a:t>Debido a la alta dimensionalidad de las variables y la complejidad inherente en la predicción de anomalías congénitas</a:t>
            </a:r>
            <a:r>
              <a:rPr lang="es-ES" sz="1800" dirty="0">
                <a:latin typeface="Abadi" panose="020B0604020104020204" pitchFamily="34" charset="0"/>
              </a:rPr>
              <a:t>, resulta necesario utilizar técnicas como minería de datos y modelos supervisados y no supervisados, que permiten identificar patrones y relaciones que podrían pasar desapercibidos con métodos tradicionales. Esto permite encontrar factores importantes relacionados con las malformaciones congénitas y agrupar a los casos con características similares para mejorar su seguimiento y diseñar estrategias de prevención más efectivas.</a:t>
            </a:r>
          </a:p>
        </p:txBody>
      </p:sp>
      <p:cxnSp>
        <p:nvCxnSpPr>
          <p:cNvPr id="4" name="Straight Connector 3">
            <a:extLst>
              <a:ext uri="{FF2B5EF4-FFF2-40B4-BE49-F238E27FC236}">
                <a16:creationId xmlns:a16="http://schemas.microsoft.com/office/drawing/2014/main" id="{47997527-2FD7-1A55-57EA-C2A0EB14C2D1}"/>
              </a:ext>
            </a:extLst>
          </p:cNvPr>
          <p:cNvCxnSpPr>
            <a:cxnSpLocks/>
          </p:cNvCxnSpPr>
          <p:nvPr/>
        </p:nvCxnSpPr>
        <p:spPr>
          <a:xfrm>
            <a:off x="568638" y="1179576"/>
            <a:ext cx="11054724" cy="0"/>
          </a:xfrm>
          <a:prstGeom prst="line">
            <a:avLst/>
          </a:prstGeom>
          <a:ln w="381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2733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4E9A644-60ED-8FDC-A323-DFDA1678ED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BC308A-9010-CD81-1863-3436CB8629D3}"/>
              </a:ext>
            </a:extLst>
          </p:cNvPr>
          <p:cNvSpPr>
            <a:spLocks noGrp="1"/>
          </p:cNvSpPr>
          <p:nvPr>
            <p:ph type="title"/>
          </p:nvPr>
        </p:nvSpPr>
        <p:spPr>
          <a:xfrm>
            <a:off x="655320" y="-192659"/>
            <a:ext cx="10515600" cy="1325563"/>
          </a:xfrm>
        </p:spPr>
        <p:txBody>
          <a:bodyPr/>
          <a:lstStyle/>
          <a:p>
            <a:pPr algn="ctr"/>
            <a:r>
              <a:rPr lang="es-CO" noProof="0" dirty="0">
                <a:solidFill>
                  <a:schemeClr val="accent1">
                    <a:lumMod val="50000"/>
                  </a:schemeClr>
                </a:solidFill>
                <a:latin typeface="Abadi" panose="020B0604020104020204" pitchFamily="34" charset="0"/>
              </a:rPr>
              <a:t>OBJETIVOS</a:t>
            </a:r>
          </a:p>
        </p:txBody>
      </p:sp>
      <p:sp>
        <p:nvSpPr>
          <p:cNvPr id="3" name="Content Placeholder 2">
            <a:extLst>
              <a:ext uri="{FF2B5EF4-FFF2-40B4-BE49-F238E27FC236}">
                <a16:creationId xmlns:a16="http://schemas.microsoft.com/office/drawing/2014/main" id="{0999E462-AE7E-3903-AC52-FCFF53525ABB}"/>
              </a:ext>
            </a:extLst>
          </p:cNvPr>
          <p:cNvSpPr>
            <a:spLocks noGrp="1"/>
          </p:cNvSpPr>
          <p:nvPr>
            <p:ph idx="1"/>
          </p:nvPr>
        </p:nvSpPr>
        <p:spPr>
          <a:xfrm>
            <a:off x="838200" y="1132904"/>
            <a:ext cx="10515600" cy="1777111"/>
          </a:xfrm>
        </p:spPr>
        <p:txBody>
          <a:bodyPr>
            <a:normAutofit/>
          </a:bodyPr>
          <a:lstStyle/>
          <a:p>
            <a:pPr marL="0" indent="0">
              <a:buNone/>
            </a:pPr>
            <a:r>
              <a:rPr lang="es-CO" sz="2400" b="1" noProof="0" dirty="0">
                <a:latin typeface="Abadi" panose="020B0604020104020204" pitchFamily="34" charset="0"/>
              </a:rPr>
              <a:t>Objetivo General </a:t>
            </a:r>
          </a:p>
          <a:p>
            <a:pPr marL="0" indent="0">
              <a:buNone/>
            </a:pPr>
            <a:r>
              <a:rPr lang="es-CO" sz="2000" noProof="0" dirty="0">
                <a:latin typeface="Abadi" panose="020B0604020104020204" pitchFamily="34" charset="0"/>
              </a:rPr>
              <a:t>Identificar patrones y agrupamientos ocultos, así como variables predictivas relevantes, en la base de datos clínica caso-control del Estudio Colaborativo Latinoamericano de Malformaciones Congénitas (ECLAMC), asociados a anomalías congénitas en recién nacidos, mediante técnicas de minería de datos y modelos predictivos.</a:t>
            </a:r>
          </a:p>
        </p:txBody>
      </p:sp>
      <p:sp>
        <p:nvSpPr>
          <p:cNvPr id="4" name="Content Placeholder 2">
            <a:extLst>
              <a:ext uri="{FF2B5EF4-FFF2-40B4-BE49-F238E27FC236}">
                <a16:creationId xmlns:a16="http://schemas.microsoft.com/office/drawing/2014/main" id="{125139AC-ECE7-42F9-738B-442714D3421C}"/>
              </a:ext>
            </a:extLst>
          </p:cNvPr>
          <p:cNvSpPr txBox="1">
            <a:spLocks/>
          </p:cNvSpPr>
          <p:nvPr/>
        </p:nvSpPr>
        <p:spPr>
          <a:xfrm>
            <a:off x="655320" y="3155950"/>
            <a:ext cx="10515600" cy="177711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CO" sz="2200" b="1" noProof="0" dirty="0">
                <a:latin typeface="Abadi" panose="020B0604020104020204" pitchFamily="34" charset="0"/>
              </a:rPr>
              <a:t>Objetivos Específicos</a:t>
            </a:r>
          </a:p>
          <a:p>
            <a:r>
              <a:rPr lang="es-CO" sz="1600" noProof="0" dirty="0">
                <a:latin typeface="Abadi" panose="020B0604020104020204" pitchFamily="34" charset="0"/>
              </a:rPr>
              <a:t>Limpiar y depurar la base de datos caso-control, y realizar un análisis exploratorio de las variables clínicas y sociodemográficas, describiendo su distribución y posibles relaciones con la presencia y ausencia de anomalías congénitas, con el fin de comprender la estructura inicial de los datos y detectar patrones preliminares.</a:t>
            </a:r>
          </a:p>
          <a:p>
            <a:r>
              <a:rPr lang="es-CO" sz="1600" noProof="0" dirty="0">
                <a:latin typeface="Abadi" panose="020B0604020104020204" pitchFamily="34" charset="0"/>
              </a:rPr>
              <a:t>Descubrir y analizar agrupamientos y patrones en la base de datos, asociados a anomalías congénitas en recién nacidos, mediante técnicas de aprendizaje no supervisado como el análisis de conglomerados y la reducción de dimensionalidad, para revelar subgrupos relevantes que faciliten la identificación de patrones ocultos.</a:t>
            </a:r>
          </a:p>
          <a:p>
            <a:r>
              <a:rPr lang="es-CO" sz="1600" noProof="0" dirty="0">
                <a:latin typeface="Abadi" panose="020B0604020104020204" pitchFamily="34" charset="0"/>
              </a:rPr>
              <a:t>Determinar las variables y factores de riesgo más relevantes asociados con la presencia o ausencia de anomalías congénitas en recién nacidos, mediante modelos de aprendizaje supervisado, como </a:t>
            </a:r>
            <a:r>
              <a:rPr lang="es-CO" sz="1600" noProof="0" dirty="0" err="1">
                <a:latin typeface="Abadi" panose="020B0604020104020204" pitchFamily="34" charset="0"/>
              </a:rPr>
              <a:t>Random</a:t>
            </a:r>
            <a:r>
              <a:rPr lang="es-CO" sz="1600" noProof="0" dirty="0">
                <a:latin typeface="Abadi" panose="020B0604020104020204" pitchFamily="34" charset="0"/>
              </a:rPr>
              <a:t> Forest y regresión logística, para identificar las variables clave que contribuyen a la predicción de dichas anomalías.</a:t>
            </a:r>
            <a:endParaRPr lang="es-CO" sz="1600" b="1" noProof="0" dirty="0">
              <a:latin typeface="Abadi" panose="020B0604020104020204" pitchFamily="34" charset="0"/>
            </a:endParaRPr>
          </a:p>
        </p:txBody>
      </p:sp>
      <p:cxnSp>
        <p:nvCxnSpPr>
          <p:cNvPr id="5" name="Straight Connector 4">
            <a:extLst>
              <a:ext uri="{FF2B5EF4-FFF2-40B4-BE49-F238E27FC236}">
                <a16:creationId xmlns:a16="http://schemas.microsoft.com/office/drawing/2014/main" id="{0ED6020C-08A7-11ED-2AEF-C355C65EE3E5}"/>
              </a:ext>
            </a:extLst>
          </p:cNvPr>
          <p:cNvCxnSpPr>
            <a:cxnSpLocks/>
          </p:cNvCxnSpPr>
          <p:nvPr/>
        </p:nvCxnSpPr>
        <p:spPr>
          <a:xfrm>
            <a:off x="568638" y="886968"/>
            <a:ext cx="11054724" cy="0"/>
          </a:xfrm>
          <a:prstGeom prst="line">
            <a:avLst/>
          </a:prstGeom>
          <a:ln w="381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9867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6B275-F0EF-1C9A-1632-202AA1BADE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9B6077-684A-D4C9-117F-7EE0F66B6A0C}"/>
              </a:ext>
            </a:extLst>
          </p:cNvPr>
          <p:cNvSpPr>
            <a:spLocks noGrp="1"/>
          </p:cNvSpPr>
          <p:nvPr>
            <p:ph type="title"/>
          </p:nvPr>
        </p:nvSpPr>
        <p:spPr>
          <a:xfrm>
            <a:off x="838200" y="186182"/>
            <a:ext cx="10515600" cy="1325563"/>
          </a:xfrm>
        </p:spPr>
        <p:txBody>
          <a:bodyPr/>
          <a:lstStyle/>
          <a:p>
            <a:pPr algn="ctr"/>
            <a:r>
              <a:rPr lang="es-CO" noProof="0" dirty="0">
                <a:solidFill>
                  <a:schemeClr val="accent1">
                    <a:lumMod val="50000"/>
                  </a:schemeClr>
                </a:solidFill>
                <a:latin typeface="Abadi" panose="020B0604020104020204" pitchFamily="34" charset="0"/>
              </a:rPr>
              <a:t>REFERENCIAS</a:t>
            </a:r>
          </a:p>
        </p:txBody>
      </p:sp>
      <p:sp>
        <p:nvSpPr>
          <p:cNvPr id="3" name="Content Placeholder 2">
            <a:extLst>
              <a:ext uri="{FF2B5EF4-FFF2-40B4-BE49-F238E27FC236}">
                <a16:creationId xmlns:a16="http://schemas.microsoft.com/office/drawing/2014/main" id="{014C741D-4288-442F-DD02-FEBF55826ABA}"/>
              </a:ext>
            </a:extLst>
          </p:cNvPr>
          <p:cNvSpPr>
            <a:spLocks noGrp="1"/>
          </p:cNvSpPr>
          <p:nvPr>
            <p:ph idx="1"/>
          </p:nvPr>
        </p:nvSpPr>
        <p:spPr/>
        <p:txBody>
          <a:bodyPr>
            <a:normAutofit/>
          </a:bodyPr>
          <a:lstStyle/>
          <a:p>
            <a:r>
              <a:rPr lang="es-CO" sz="1400" noProof="0" dirty="0"/>
              <a:t>Nazer, J. (2011). Malformaciones congénitas en Chile y Latinoamérica: Una visión epidemiológica del ECLAMC del período 1995-2008. </a:t>
            </a:r>
            <a:r>
              <a:rPr lang="es-CO" sz="1400" i="1" noProof="0" dirty="0"/>
              <a:t>Revista Médica de Chile</a:t>
            </a:r>
            <a:r>
              <a:rPr lang="es-CO" sz="1400" noProof="0" dirty="0"/>
              <a:t>, </a:t>
            </a:r>
            <a:r>
              <a:rPr lang="es-CO" sz="1400" i="1" noProof="0" dirty="0"/>
              <a:t>139</a:t>
            </a:r>
            <a:r>
              <a:rPr lang="es-CO" sz="1400" noProof="0" dirty="0"/>
              <a:t>(1), 72-78.</a:t>
            </a:r>
          </a:p>
          <a:p>
            <a:r>
              <a:rPr lang="es-CO" sz="1400" noProof="0" dirty="0" err="1"/>
              <a:t>Poletta</a:t>
            </a:r>
            <a:r>
              <a:rPr lang="es-CO" sz="1400" noProof="0" dirty="0"/>
              <a:t>, F. A., Gili, J. A., &amp; Castilla, E. E. (2014). </a:t>
            </a:r>
            <a:r>
              <a:rPr lang="es-CO" sz="1400" noProof="0" dirty="0" err="1"/>
              <a:t>Latin</a:t>
            </a:r>
            <a:r>
              <a:rPr lang="es-CO" sz="1400" noProof="0" dirty="0"/>
              <a:t> American </a:t>
            </a:r>
            <a:r>
              <a:rPr lang="es-CO" sz="1400" noProof="0" dirty="0" err="1"/>
              <a:t>Collaborative</a:t>
            </a:r>
            <a:r>
              <a:rPr lang="es-CO" sz="1400" noProof="0" dirty="0"/>
              <a:t> </a:t>
            </a:r>
            <a:r>
              <a:rPr lang="es-CO" sz="1400" noProof="0" dirty="0" err="1"/>
              <a:t>Study</a:t>
            </a:r>
            <a:r>
              <a:rPr lang="es-CO" sz="1400" noProof="0" dirty="0"/>
              <a:t> </a:t>
            </a:r>
            <a:r>
              <a:rPr lang="es-CO" sz="1400" noProof="0" dirty="0" err="1"/>
              <a:t>of</a:t>
            </a:r>
            <a:r>
              <a:rPr lang="es-CO" sz="1400" noProof="0" dirty="0"/>
              <a:t> </a:t>
            </a:r>
            <a:r>
              <a:rPr lang="es-CO" sz="1400" noProof="0" dirty="0" err="1"/>
              <a:t>Congenital</a:t>
            </a:r>
            <a:r>
              <a:rPr lang="es-CO" sz="1400" noProof="0" dirty="0"/>
              <a:t> </a:t>
            </a:r>
            <a:r>
              <a:rPr lang="es-CO" sz="1400" noProof="0" dirty="0" err="1"/>
              <a:t>Malformations</a:t>
            </a:r>
            <a:r>
              <a:rPr lang="es-CO" sz="1400" noProof="0" dirty="0"/>
              <a:t> (ECLAMC): A </a:t>
            </a:r>
            <a:r>
              <a:rPr lang="es-CO" sz="1400" noProof="0" dirty="0" err="1"/>
              <a:t>model</a:t>
            </a:r>
            <a:r>
              <a:rPr lang="es-CO" sz="1400" noProof="0" dirty="0"/>
              <a:t> </a:t>
            </a:r>
            <a:r>
              <a:rPr lang="es-CO" sz="1400" noProof="0" dirty="0" err="1"/>
              <a:t>for</a:t>
            </a:r>
            <a:r>
              <a:rPr lang="es-CO" sz="1400" noProof="0" dirty="0"/>
              <a:t> </a:t>
            </a:r>
            <a:r>
              <a:rPr lang="es-CO" sz="1400" noProof="0" dirty="0" err="1"/>
              <a:t>health</a:t>
            </a:r>
            <a:r>
              <a:rPr lang="es-CO" sz="1400" noProof="0" dirty="0"/>
              <a:t> </a:t>
            </a:r>
            <a:r>
              <a:rPr lang="es-CO" sz="1400" noProof="0" dirty="0" err="1"/>
              <a:t>collaborative</a:t>
            </a:r>
            <a:r>
              <a:rPr lang="es-CO" sz="1400" noProof="0" dirty="0"/>
              <a:t> </a:t>
            </a:r>
            <a:r>
              <a:rPr lang="es-CO" sz="1400" noProof="0" dirty="0" err="1"/>
              <a:t>studies</a:t>
            </a:r>
            <a:r>
              <a:rPr lang="es-CO" sz="1400" noProof="0" dirty="0"/>
              <a:t>. </a:t>
            </a:r>
            <a:r>
              <a:rPr lang="es-CO" sz="1400" i="1" noProof="0" dirty="0" err="1"/>
              <a:t>Public</a:t>
            </a:r>
            <a:r>
              <a:rPr lang="es-CO" sz="1400" i="1" noProof="0" dirty="0"/>
              <a:t> </a:t>
            </a:r>
            <a:r>
              <a:rPr lang="es-CO" sz="1400" i="1" noProof="0" dirty="0" err="1"/>
              <a:t>Health</a:t>
            </a:r>
            <a:r>
              <a:rPr lang="es-CO" sz="1400" i="1" noProof="0" dirty="0"/>
              <a:t> </a:t>
            </a:r>
            <a:r>
              <a:rPr lang="es-CO" sz="1400" i="1" noProof="0" dirty="0" err="1"/>
              <a:t>Genomics</a:t>
            </a:r>
            <a:r>
              <a:rPr lang="es-CO" sz="1400" noProof="0" dirty="0"/>
              <a:t>, </a:t>
            </a:r>
            <a:r>
              <a:rPr lang="es-CO" sz="1400" i="1" noProof="0" dirty="0"/>
              <a:t>17</a:t>
            </a:r>
            <a:r>
              <a:rPr lang="es-CO" sz="1400" noProof="0" dirty="0"/>
              <a:t>(2), 61–67. https://doi.org/10.1159/000356568</a:t>
            </a:r>
          </a:p>
          <a:p>
            <a:r>
              <a:rPr lang="es-CO" sz="1400" noProof="0" dirty="0"/>
              <a:t>Zarate, A. M., García, G., &amp; </a:t>
            </a:r>
            <a:r>
              <a:rPr lang="es-CO" sz="1400" noProof="0" dirty="0" err="1"/>
              <a:t>Zarante</a:t>
            </a:r>
            <a:r>
              <a:rPr lang="es-CO" sz="1400" noProof="0" dirty="0"/>
              <a:t>, I. (2016). Evaluación de factores de riesgo asociados con malformaciones congénitas en el programa de vigilancia epidemiológica de malformaciones congénitas (ECLAMC) en Bogotá entre 2001 y 2010. </a:t>
            </a:r>
            <a:r>
              <a:rPr lang="es-CO" sz="1400" i="1" noProof="0" dirty="0" err="1"/>
              <a:t>Universitas</a:t>
            </a:r>
            <a:r>
              <a:rPr lang="es-CO" sz="1400" i="1" noProof="0" dirty="0"/>
              <a:t> Medica</a:t>
            </a:r>
            <a:r>
              <a:rPr lang="es-CO" sz="1400" noProof="0" dirty="0"/>
              <a:t>, </a:t>
            </a:r>
            <a:r>
              <a:rPr lang="es-CO" sz="1400" i="1" noProof="0" dirty="0"/>
              <a:t>53</a:t>
            </a:r>
            <a:r>
              <a:rPr lang="es-CO" sz="1400" noProof="0" dirty="0"/>
              <a:t>(1), 11-25. </a:t>
            </a:r>
            <a:r>
              <a:rPr lang="es-CO" sz="1400" noProof="0" dirty="0">
                <a:hlinkClick r:id="rId2"/>
              </a:rPr>
              <a:t>https://doi.org/10.11144/Javeriana.umed53-1.efra</a:t>
            </a:r>
            <a:endParaRPr lang="es-CO" sz="1400" noProof="0" dirty="0"/>
          </a:p>
        </p:txBody>
      </p:sp>
      <p:cxnSp>
        <p:nvCxnSpPr>
          <p:cNvPr id="4" name="Straight Connector 3">
            <a:extLst>
              <a:ext uri="{FF2B5EF4-FFF2-40B4-BE49-F238E27FC236}">
                <a16:creationId xmlns:a16="http://schemas.microsoft.com/office/drawing/2014/main" id="{3CDA1A03-837F-A62E-0E17-15F6D9E416FA}"/>
              </a:ext>
            </a:extLst>
          </p:cNvPr>
          <p:cNvCxnSpPr>
            <a:cxnSpLocks/>
          </p:cNvCxnSpPr>
          <p:nvPr/>
        </p:nvCxnSpPr>
        <p:spPr>
          <a:xfrm>
            <a:off x="568638" y="1188720"/>
            <a:ext cx="11054724" cy="0"/>
          </a:xfrm>
          <a:prstGeom prst="line">
            <a:avLst/>
          </a:prstGeom>
          <a:ln w="381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27122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hand holding a dna&#10;&#10;AI-generated content may be incorrect.">
            <a:extLst>
              <a:ext uri="{FF2B5EF4-FFF2-40B4-BE49-F238E27FC236}">
                <a16:creationId xmlns:a16="http://schemas.microsoft.com/office/drawing/2014/main" id="{A0D7D334-8A3F-DECF-CF08-2E6EEEF21691}"/>
              </a:ext>
            </a:extLst>
          </p:cNvPr>
          <p:cNvPicPr>
            <a:picLocks noChangeAspect="1"/>
          </p:cNvPicPr>
          <p:nvPr/>
        </p:nvPicPr>
        <p:blipFill>
          <a:blip r:embed="rId3">
            <a:alphaModFix amt="50000"/>
            <a:extLst>
              <a:ext uri="{28A0092B-C50C-407E-A947-70E740481C1C}">
                <a14:useLocalDpi xmlns:a14="http://schemas.microsoft.com/office/drawing/2010/main" val="0"/>
              </a:ext>
            </a:extLst>
          </a:blip>
          <a:srcRect b="15730"/>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DFD32534-9C91-29DE-6265-59BB2992BD8E}"/>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dirty="0">
                <a:solidFill>
                  <a:srgbClr val="FFFFFF"/>
                </a:solidFill>
              </a:rPr>
              <a:t>GRACIAS</a:t>
            </a:r>
          </a:p>
        </p:txBody>
      </p:sp>
    </p:spTree>
    <p:extLst>
      <p:ext uri="{BB962C8B-B14F-4D97-AF65-F5344CB8AC3E}">
        <p14:creationId xmlns:p14="http://schemas.microsoft.com/office/powerpoint/2010/main" val="190876572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455</TotalTime>
  <Words>1015</Words>
  <Application>Microsoft Office PowerPoint</Application>
  <PresentationFormat>Widescreen</PresentationFormat>
  <Paragraphs>65</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Abadi</vt:lpstr>
      <vt:lpstr>Aptos</vt:lpstr>
      <vt:lpstr>Aptos Display</vt:lpstr>
      <vt:lpstr>Arial</vt:lpstr>
      <vt:lpstr>Office Theme</vt:lpstr>
      <vt:lpstr>Identificación de variables predictivas y patrones asociados a anomalías congénitas en recién nacidos utilizando datos del ECLAMC</vt:lpstr>
      <vt:lpstr> Tabla de Contenidos</vt:lpstr>
      <vt:lpstr>INTRODUCCIÓN</vt:lpstr>
      <vt:lpstr>PowerPoint Presentation</vt:lpstr>
      <vt:lpstr>PowerPoint Presentation</vt:lpstr>
      <vt:lpstr>JUSTIFICACIÓN DEL PROBLEMA</vt:lpstr>
      <vt:lpstr>OBJETIVOS</vt:lpstr>
      <vt:lpstr>REFERENCIAS</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William Andres Gomez Roa</dc:creator>
  <cp:lastModifiedBy>William Andres Gomez Roa</cp:lastModifiedBy>
  <cp:revision>6</cp:revision>
  <dcterms:created xsi:type="dcterms:W3CDTF">2025-08-08T08:07:57Z</dcterms:created>
  <dcterms:modified xsi:type="dcterms:W3CDTF">2025-08-08T19:44:04Z</dcterms:modified>
</cp:coreProperties>
</file>